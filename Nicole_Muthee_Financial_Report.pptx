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9" r:id="rId1"/>
  </p:sldMasterIdLst>
  <p:sldIdLst>
    <p:sldId id="256" r:id="rId2"/>
    <p:sldId id="266" r:id="rId3"/>
    <p:sldId id="267" r:id="rId4"/>
    <p:sldId id="268" r:id="rId5"/>
    <p:sldId id="257" r:id="rId6"/>
    <p:sldId id="258" r:id="rId7"/>
    <p:sldId id="259" r:id="rId8"/>
    <p:sldId id="260" r:id="rId9"/>
    <p:sldId id="261" r:id="rId10"/>
    <p:sldId id="262" r:id="rId11"/>
    <p:sldId id="263" r:id="rId12"/>
    <p:sldId id="269" r:id="rId13"/>
    <p:sldId id="264" r:id="rId14"/>
    <p:sldId id="265" r:id="rId15"/>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64" d="100"/>
          <a:sy n="64" d="100"/>
        </p:scale>
        <p:origin x="71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oleObject" Target="https://d.docs.live.net/B5C7E8750856D232/Documents/project.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B5C7E8750856D232/Documents/project.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B5C7E8750856D232/Documents/project.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B5C7E8750856D232/Documents/project.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B5C7E8750856D232/Documents/projec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[project.xlsx]pivot!PivotTable11</c:name>
    <c:fmtId val="-1"/>
  </c:pivotSource>
  <c:chart>
    <c:title>
      <c:tx>
        <c:rich>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r>
              <a:rPr lang="en-US" dirty="0"/>
              <a:t>Country </a:t>
            </a:r>
            <a:r>
              <a:rPr lang="en-US"/>
              <a:t>vs COGS</a:t>
            </a:r>
            <a:endParaRPr lang="en-US" dirty="0"/>
          </a:p>
        </c:rich>
      </c:tx>
      <c:overlay val="0"/>
      <c:spPr>
        <a:noFill/>
        <a:ln>
          <a:noFill/>
        </a:ln>
        <a:effectLst/>
      </c:spPr>
    </c:title>
    <c:autoTitleDeleted val="0"/>
    <c:plotArea>
      <c:layout>
        <c:manualLayout>
          <c:layoutTarget val="inner"/>
          <c:xMode val="edge"/>
          <c:yMode val="edge"/>
          <c:x val="7.1234908136482936E-2"/>
          <c:y val="0.12541666666666668"/>
          <c:w val="0.83398731408573923"/>
          <c:h val="0.72125801983085447"/>
        </c:manualLayout>
      </c:layout>
      <c:lineChart>
        <c:grouping val="standard"/>
        <c:varyColors val="0"/>
        <c:ser>
          <c:idx val="0"/>
          <c:order val="0"/>
          <c:tx>
            <c:strRef>
              <c:f>pivot!$D$116:$D$117</c:f>
              <c:strCache>
                <c:ptCount val="1"/>
                <c:pt idx="0">
                  <c:v>2013</c:v>
                </c:pt>
              </c:strCache>
            </c:strRef>
          </c:tx>
          <c:spPr>
            <a:effectLst/>
          </c:spPr>
          <c:marker>
            <c:symbol val="none"/>
          </c:marker>
          <c:cat>
            <c:strRef>
              <c:f>pivot!$C$118:$C$123</c:f>
              <c:strCache>
                <c:ptCount val="5"/>
                <c:pt idx="0">
                  <c:v>Canada</c:v>
                </c:pt>
                <c:pt idx="1">
                  <c:v>France</c:v>
                </c:pt>
                <c:pt idx="2">
                  <c:v>Germany</c:v>
                </c:pt>
                <c:pt idx="3">
                  <c:v>Mexico</c:v>
                </c:pt>
                <c:pt idx="4">
                  <c:v>United States Of America</c:v>
                </c:pt>
              </c:strCache>
            </c:strRef>
          </c:cat>
          <c:val>
            <c:numRef>
              <c:f>pivot!$D$118:$D$123</c:f>
              <c:numCache>
                <c:formatCode>General</c:formatCode>
                <c:ptCount val="5"/>
                <c:pt idx="0">
                  <c:v>4372217</c:v>
                </c:pt>
                <c:pt idx="1">
                  <c:v>4321463</c:v>
                </c:pt>
                <c:pt idx="2">
                  <c:v>5109516</c:v>
                </c:pt>
                <c:pt idx="3">
                  <c:v>4161751</c:v>
                </c:pt>
                <c:pt idx="4">
                  <c:v>4571844</c:v>
                </c:pt>
              </c:numCache>
            </c:numRef>
          </c:val>
          <c:smooth val="0"/>
          <c:extLst>
            <c:ext xmlns:c16="http://schemas.microsoft.com/office/drawing/2014/chart" uri="{C3380CC4-5D6E-409C-BE32-E72D297353CC}">
              <c16:uniqueId val="{00000000-1713-4CC6-B4EE-9A73C2868230}"/>
            </c:ext>
          </c:extLst>
        </c:ser>
        <c:ser>
          <c:idx val="1"/>
          <c:order val="1"/>
          <c:tx>
            <c:strRef>
              <c:f>pivot!$E$116:$E$117</c:f>
              <c:strCache>
                <c:ptCount val="1"/>
                <c:pt idx="0">
                  <c:v>2014</c:v>
                </c:pt>
              </c:strCache>
            </c:strRef>
          </c:tx>
          <c:spPr>
            <a:effectLst/>
          </c:spPr>
          <c:marker>
            <c:symbol val="none"/>
          </c:marker>
          <c:cat>
            <c:strRef>
              <c:f>pivot!$C$118:$C$123</c:f>
              <c:strCache>
                <c:ptCount val="5"/>
                <c:pt idx="0">
                  <c:v>Canada</c:v>
                </c:pt>
                <c:pt idx="1">
                  <c:v>France</c:v>
                </c:pt>
                <c:pt idx="2">
                  <c:v>Germany</c:v>
                </c:pt>
                <c:pt idx="3">
                  <c:v>Mexico</c:v>
                </c:pt>
                <c:pt idx="4">
                  <c:v>United States Of America</c:v>
                </c:pt>
              </c:strCache>
            </c:strRef>
          </c:cat>
          <c:val>
            <c:numRef>
              <c:f>pivot!$E$118:$E$123</c:f>
              <c:numCache>
                <c:formatCode>General</c:formatCode>
                <c:ptCount val="5"/>
                <c:pt idx="0">
                  <c:v>16986209</c:v>
                </c:pt>
                <c:pt idx="1">
                  <c:v>16229908.5</c:v>
                </c:pt>
                <c:pt idx="2">
                  <c:v>14710801</c:v>
                </c:pt>
                <c:pt idx="3">
                  <c:v>13880078</c:v>
                </c:pt>
                <c:pt idx="4">
                  <c:v>17529325.5</c:v>
                </c:pt>
              </c:numCache>
            </c:numRef>
          </c:val>
          <c:smooth val="0"/>
          <c:extLst>
            <c:ext xmlns:c16="http://schemas.microsoft.com/office/drawing/2014/chart" uri="{C3380CC4-5D6E-409C-BE32-E72D297353CC}">
              <c16:uniqueId val="{00000001-1713-4CC6-B4EE-9A73C2868230}"/>
            </c:ext>
          </c:extLst>
        </c:ser>
        <c:dLbls>
          <c:showLegendKey val="0"/>
          <c:showVal val="0"/>
          <c:showCatName val="0"/>
          <c:showSerName val="0"/>
          <c:showPercent val="0"/>
          <c:showBubbleSize val="0"/>
        </c:dLbls>
        <c:smooth val="0"/>
        <c:axId val="45904607"/>
        <c:axId val="63741791"/>
      </c:lineChart>
      <c:catAx>
        <c:axId val="45904607"/>
        <c:scaling>
          <c:orientation val="minMax"/>
        </c:scaling>
        <c:delete val="0"/>
        <c:axPos val="b"/>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63741791"/>
        <c:crosses val="autoZero"/>
        <c:auto val="1"/>
        <c:lblAlgn val="ctr"/>
        <c:lblOffset val="100"/>
        <c:noMultiLvlLbl val="0"/>
      </c:catAx>
      <c:valAx>
        <c:axId val="63741791"/>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45904607"/>
        <c:crosses val="autoZero"/>
        <c:crossBetween val="between"/>
      </c:valAx>
      <c:spPr>
        <a:noFill/>
        <a:ln>
          <a:noFill/>
        </a:ln>
        <a:effectLst/>
        <a:sp3d/>
      </c:spPr>
    </c:plotArea>
    <c:legend>
      <c:legendPos val="r"/>
      <c:overlay val="0"/>
      <c:spPr>
        <a:noFill/>
        <a:ln>
          <a:noFill/>
        </a:ln>
        <a:effectLst/>
      </c:spPr>
      <c:txPr>
        <a:bodyPr rot="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uri="{0b15fc19-7d7d-44ad-8c2d-2c3a37ce22c3}">
        <chartProps xmlns="https://web.wps.cn/et/2018/main" chartId="{1e9db05c-f534-40bf-8cd1-45fbc318ad8f}"/>
      </c:ext>
    </c:extLst>
  </c:chart>
  <c:txPr>
    <a:bodyPr/>
    <a:lstStyle/>
    <a:p>
      <a:pPr>
        <a:defRPr lang="en-GB"/>
      </a:pPr>
      <a:endParaRPr lang="en-KE"/>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[project.xlsx]pivot!PivotTable16</c:name>
    <c:fmtId val="-1"/>
  </c:pivotSource>
  <c:chart>
    <c:title>
      <c:tx>
        <c:rich>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r>
              <a:rPr lang="en-US"/>
              <a:t>Discount</a:t>
            </a:r>
            <a:r>
              <a:rPr lang="en-US" baseline="0"/>
              <a:t> Performance</a:t>
            </a:r>
            <a:endParaRPr lang="en-US"/>
          </a:p>
        </c:rich>
      </c:tx>
      <c:overlay val="0"/>
      <c:spPr>
        <a:noFill/>
        <a:ln>
          <a:noFill/>
        </a:ln>
        <a:effectLst/>
      </c:spPr>
      <c:txPr>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pivot!$B$160</c:f>
              <c:strCache>
                <c:ptCount val="1"/>
                <c:pt idx="0">
                  <c:v>Sum of  Sales</c:v>
                </c:pt>
              </c:strCache>
            </c:strRef>
          </c:tx>
          <c:spPr>
            <a:solidFill>
              <a:schemeClr val="accent1"/>
            </a:solidFill>
            <a:ln>
              <a:noFill/>
            </a:ln>
            <a:effectLst/>
          </c:spPr>
          <c:invertIfNegative val="0"/>
          <c:cat>
            <c:strRef>
              <c:f>pivot!$A$161:$A$165</c:f>
              <c:strCache>
                <c:ptCount val="4"/>
                <c:pt idx="0">
                  <c:v>Medium</c:v>
                </c:pt>
                <c:pt idx="1">
                  <c:v>High</c:v>
                </c:pt>
                <c:pt idx="2">
                  <c:v>Low</c:v>
                </c:pt>
                <c:pt idx="3">
                  <c:v>None</c:v>
                </c:pt>
              </c:strCache>
            </c:strRef>
          </c:cat>
          <c:val>
            <c:numRef>
              <c:f>pivot!$B$161:$B$165</c:f>
              <c:numCache>
                <c:formatCode>General</c:formatCode>
                <c:ptCount val="4"/>
                <c:pt idx="0">
                  <c:v>38780430.835000001</c:v>
                </c:pt>
                <c:pt idx="1">
                  <c:v>37372486.725000001</c:v>
                </c:pt>
                <c:pt idx="2">
                  <c:v>34629778.700000003</c:v>
                </c:pt>
                <c:pt idx="3">
                  <c:v>7069234.5999999996</c:v>
                </c:pt>
              </c:numCache>
            </c:numRef>
          </c:val>
          <c:extLst>
            <c:ext xmlns:c16="http://schemas.microsoft.com/office/drawing/2014/chart" uri="{C3380CC4-5D6E-409C-BE32-E72D297353CC}">
              <c16:uniqueId val="{00000000-0611-4A0E-966D-98917F2BE2ED}"/>
            </c:ext>
          </c:extLst>
        </c:ser>
        <c:dLbls>
          <c:showLegendKey val="0"/>
          <c:showVal val="0"/>
          <c:showCatName val="0"/>
          <c:showSerName val="0"/>
          <c:showPercent val="0"/>
          <c:showBubbleSize val="0"/>
        </c:dLbls>
        <c:gapWidth val="219"/>
        <c:axId val="1977622847"/>
        <c:axId val="1746464543"/>
      </c:barChart>
      <c:barChart>
        <c:barDir val="col"/>
        <c:grouping val="clustered"/>
        <c:varyColors val="0"/>
        <c:ser>
          <c:idx val="1"/>
          <c:order val="1"/>
          <c:tx>
            <c:strRef>
              <c:f>pivot!$C$160</c:f>
              <c:strCache>
                <c:ptCount val="1"/>
                <c:pt idx="0">
                  <c:v>Sum of Discounts</c:v>
                </c:pt>
              </c:strCache>
            </c:strRef>
          </c:tx>
          <c:spPr>
            <a:solidFill>
              <a:schemeClr val="accent2"/>
            </a:solidFill>
            <a:ln>
              <a:noFill/>
            </a:ln>
            <a:effectLst/>
          </c:spPr>
          <c:invertIfNegative val="0"/>
          <c:cat>
            <c:strRef>
              <c:f>pivot!$A$161:$A$165</c:f>
              <c:strCache>
                <c:ptCount val="4"/>
                <c:pt idx="0">
                  <c:v>Medium</c:v>
                </c:pt>
                <c:pt idx="1">
                  <c:v>High</c:v>
                </c:pt>
                <c:pt idx="2">
                  <c:v>Low</c:v>
                </c:pt>
                <c:pt idx="3">
                  <c:v>None</c:v>
                </c:pt>
              </c:strCache>
            </c:strRef>
          </c:cat>
          <c:val>
            <c:numRef>
              <c:f>pivot!$C$161:$C$165</c:f>
              <c:numCache>
                <c:formatCode>General</c:formatCode>
                <c:ptCount val="4"/>
                <c:pt idx="0">
                  <c:v>3002546.165</c:v>
                </c:pt>
                <c:pt idx="1">
                  <c:v>5317026.2750000004</c:v>
                </c:pt>
                <c:pt idx="2">
                  <c:v>885675.8</c:v>
                </c:pt>
                <c:pt idx="3">
                  <c:v>5193</c:v>
                </c:pt>
              </c:numCache>
            </c:numRef>
          </c:val>
          <c:extLst>
            <c:ext xmlns:c16="http://schemas.microsoft.com/office/drawing/2014/chart" uri="{C3380CC4-5D6E-409C-BE32-E72D297353CC}">
              <c16:uniqueId val="{00000001-0611-4A0E-966D-98917F2BE2ED}"/>
            </c:ext>
          </c:extLst>
        </c:ser>
        <c:dLbls>
          <c:showLegendKey val="0"/>
          <c:showVal val="0"/>
          <c:showCatName val="0"/>
          <c:showSerName val="0"/>
          <c:showPercent val="0"/>
          <c:showBubbleSize val="0"/>
        </c:dLbls>
        <c:gapWidth val="219"/>
        <c:axId val="982856383"/>
        <c:axId val="1096832319"/>
      </c:barChart>
      <c:lineChart>
        <c:grouping val="standard"/>
        <c:varyColors val="0"/>
        <c:ser>
          <c:idx val="2"/>
          <c:order val="2"/>
          <c:tx>
            <c:strRef>
              <c:f>pivot!$D$160</c:f>
              <c:strCache>
                <c:ptCount val="1"/>
                <c:pt idx="0">
                  <c:v>Sum of Profit</c:v>
                </c:pt>
              </c:strCache>
            </c:strRef>
          </c:tx>
          <c:spPr>
            <a:ln w="28575" cap="rnd">
              <a:solidFill>
                <a:schemeClr val="accent3"/>
              </a:solidFill>
              <a:round/>
            </a:ln>
            <a:effectLst/>
          </c:spPr>
          <c:marker>
            <c:symbol val="none"/>
          </c:marker>
          <c:cat>
            <c:strRef>
              <c:f>pivot!$A$161:$A$165</c:f>
              <c:strCache>
                <c:ptCount val="4"/>
                <c:pt idx="0">
                  <c:v>Medium</c:v>
                </c:pt>
                <c:pt idx="1">
                  <c:v>High</c:v>
                </c:pt>
                <c:pt idx="2">
                  <c:v>Low</c:v>
                </c:pt>
                <c:pt idx="3">
                  <c:v>None</c:v>
                </c:pt>
              </c:strCache>
            </c:strRef>
          </c:cat>
          <c:val>
            <c:numRef>
              <c:f>pivot!$D$161:$D$165</c:f>
              <c:numCache>
                <c:formatCode>General</c:formatCode>
                <c:ptCount val="4"/>
                <c:pt idx="0">
                  <c:v>5579522.835</c:v>
                </c:pt>
                <c:pt idx="1">
                  <c:v>3388866.7250000001</c:v>
                </c:pt>
                <c:pt idx="2">
                  <c:v>6188857.7000000002</c:v>
                </c:pt>
                <c:pt idx="3">
                  <c:v>1748530.4</c:v>
                </c:pt>
              </c:numCache>
            </c:numRef>
          </c:val>
          <c:smooth val="0"/>
          <c:extLst>
            <c:ext xmlns:c16="http://schemas.microsoft.com/office/drawing/2014/chart" uri="{C3380CC4-5D6E-409C-BE32-E72D297353CC}">
              <c16:uniqueId val="{00000002-0611-4A0E-966D-98917F2BE2ED}"/>
            </c:ext>
          </c:extLst>
        </c:ser>
        <c:dLbls>
          <c:showLegendKey val="0"/>
          <c:showVal val="0"/>
          <c:showCatName val="0"/>
          <c:showSerName val="0"/>
          <c:showPercent val="0"/>
          <c:showBubbleSize val="0"/>
        </c:dLbls>
        <c:marker val="1"/>
        <c:smooth val="0"/>
        <c:axId val="982856383"/>
        <c:axId val="1096832319"/>
      </c:lineChart>
      <c:catAx>
        <c:axId val="197762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1746464543"/>
        <c:crosses val="autoZero"/>
        <c:auto val="1"/>
        <c:lblAlgn val="ctr"/>
        <c:lblOffset val="100"/>
        <c:noMultiLvlLbl val="0"/>
      </c:catAx>
      <c:valAx>
        <c:axId val="1746464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1977622847"/>
        <c:crosses val="autoZero"/>
        <c:crossBetween val="between"/>
      </c:valAx>
      <c:catAx>
        <c:axId val="982856383"/>
        <c:scaling>
          <c:orientation val="minMax"/>
        </c:scaling>
        <c:delete val="1"/>
        <c:axPos val="b"/>
        <c:numFmt formatCode="General" sourceLinked="1"/>
        <c:majorTickMark val="out"/>
        <c:minorTickMark val="none"/>
        <c:tickLblPos val="nextTo"/>
        <c:crossAx val="1096832319"/>
        <c:crosses val="autoZero"/>
        <c:auto val="1"/>
        <c:lblAlgn val="ctr"/>
        <c:lblOffset val="100"/>
        <c:noMultiLvlLbl val="0"/>
      </c:catAx>
      <c:valAx>
        <c:axId val="109683231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982856383"/>
        <c:crosses val="max"/>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uri="{0b15fc19-7d7d-44ad-8c2d-2c3a37ce22c3}">
        <chartProps xmlns="https://web.wps.cn/et/2018/main" chartId="{6cff1c33-8e14-4b48-a536-85060003c8c0}"/>
      </c:ext>
    </c:extLst>
  </c:chart>
  <c:spPr>
    <a:noFill/>
    <a:ln>
      <a:noFill/>
    </a:ln>
    <a:effectLst/>
  </c:spPr>
  <c:txPr>
    <a:bodyPr/>
    <a:lstStyle/>
    <a:p>
      <a:pPr>
        <a:defRPr lang="en-GB"/>
      </a:pPr>
      <a:endParaRPr lang="en-KE"/>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[project.xlsx]pivot!PivotTable13</c:name>
    <c:fmtId val="-1"/>
  </c:pivotSource>
  <c:chart>
    <c:title>
      <c:tx>
        <c:rich>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r>
              <a:rPr lang="en-US"/>
              <a:t>Segment</a:t>
            </a:r>
            <a:r>
              <a:rPr lang="en-US" baseline="0"/>
              <a:t> performance</a:t>
            </a:r>
            <a:endParaRPr lang="en-US"/>
          </a:p>
        </c:rich>
      </c:tx>
      <c:overlay val="0"/>
      <c:spPr>
        <a:noFill/>
        <a:ln>
          <a:noFill/>
        </a:ln>
        <a:effectLst/>
      </c:spPr>
      <c:txPr>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pivot!$B$142</c:f>
              <c:strCache>
                <c:ptCount val="1"/>
                <c:pt idx="0">
                  <c:v>Sum of  Sales</c:v>
                </c:pt>
              </c:strCache>
            </c:strRef>
          </c:tx>
          <c:spPr>
            <a:solidFill>
              <a:schemeClr val="accent1"/>
            </a:solidFill>
            <a:ln>
              <a:noFill/>
            </a:ln>
            <a:effectLst/>
          </c:spPr>
          <c:invertIfNegative val="0"/>
          <c:cat>
            <c:strRef>
              <c:f>pivot!$A$143:$A$148</c:f>
              <c:strCache>
                <c:ptCount val="5"/>
                <c:pt idx="0">
                  <c:v>Channel Partners</c:v>
                </c:pt>
                <c:pt idx="1">
                  <c:v>Enterprise</c:v>
                </c:pt>
                <c:pt idx="2">
                  <c:v>Government</c:v>
                </c:pt>
                <c:pt idx="3">
                  <c:v>Midmarket</c:v>
                </c:pt>
                <c:pt idx="4">
                  <c:v>Small Business</c:v>
                </c:pt>
              </c:strCache>
            </c:strRef>
          </c:cat>
          <c:val>
            <c:numRef>
              <c:f>pivot!$B$143:$B$148</c:f>
              <c:numCache>
                <c:formatCode>General</c:formatCode>
                <c:ptCount val="5"/>
                <c:pt idx="0">
                  <c:v>1817593.84</c:v>
                </c:pt>
                <c:pt idx="1">
                  <c:v>19611694.375</c:v>
                </c:pt>
                <c:pt idx="2">
                  <c:v>51612841.07</c:v>
                </c:pt>
                <c:pt idx="3">
                  <c:v>2381883.0750000002</c:v>
                </c:pt>
                <c:pt idx="4">
                  <c:v>42427918.5</c:v>
                </c:pt>
              </c:numCache>
            </c:numRef>
          </c:val>
          <c:extLst>
            <c:ext xmlns:c16="http://schemas.microsoft.com/office/drawing/2014/chart" uri="{C3380CC4-5D6E-409C-BE32-E72D297353CC}">
              <c16:uniqueId val="{00000000-0F60-441D-8D4A-AE020DB5054D}"/>
            </c:ext>
          </c:extLst>
        </c:ser>
        <c:ser>
          <c:idx val="1"/>
          <c:order val="1"/>
          <c:tx>
            <c:strRef>
              <c:f>pivot!$C$142</c:f>
              <c:strCache>
                <c:ptCount val="1"/>
                <c:pt idx="0">
                  <c:v>Sum of COGS</c:v>
                </c:pt>
              </c:strCache>
            </c:strRef>
          </c:tx>
          <c:spPr>
            <a:solidFill>
              <a:schemeClr val="accent2"/>
            </a:solidFill>
            <a:ln>
              <a:noFill/>
            </a:ln>
            <a:effectLst/>
          </c:spPr>
          <c:invertIfNegative val="0"/>
          <c:cat>
            <c:strRef>
              <c:f>pivot!$A$143:$A$148</c:f>
              <c:strCache>
                <c:ptCount val="5"/>
                <c:pt idx="0">
                  <c:v>Channel Partners</c:v>
                </c:pt>
                <c:pt idx="1">
                  <c:v>Enterprise</c:v>
                </c:pt>
                <c:pt idx="2">
                  <c:v>Government</c:v>
                </c:pt>
                <c:pt idx="3">
                  <c:v>Midmarket</c:v>
                </c:pt>
                <c:pt idx="4">
                  <c:v>Small Business</c:v>
                </c:pt>
              </c:strCache>
            </c:strRef>
          </c:cat>
          <c:val>
            <c:numRef>
              <c:f>pivot!$C$143:$C$148</c:f>
              <c:numCache>
                <c:formatCode>General</c:formatCode>
                <c:ptCount val="5"/>
                <c:pt idx="0">
                  <c:v>501705.5</c:v>
                </c:pt>
                <c:pt idx="1">
                  <c:v>20226240</c:v>
                </c:pt>
                <c:pt idx="2">
                  <c:v>41138637.5</c:v>
                </c:pt>
                <c:pt idx="3">
                  <c:v>1721780</c:v>
                </c:pt>
                <c:pt idx="4">
                  <c:v>38284750</c:v>
                </c:pt>
              </c:numCache>
            </c:numRef>
          </c:val>
          <c:extLst>
            <c:ext xmlns:c16="http://schemas.microsoft.com/office/drawing/2014/chart" uri="{C3380CC4-5D6E-409C-BE32-E72D297353CC}">
              <c16:uniqueId val="{00000001-0F60-441D-8D4A-AE020DB5054D}"/>
            </c:ext>
          </c:extLst>
        </c:ser>
        <c:dLbls>
          <c:showLegendKey val="0"/>
          <c:showVal val="0"/>
          <c:showCatName val="0"/>
          <c:showSerName val="0"/>
          <c:showPercent val="0"/>
          <c:showBubbleSize val="0"/>
        </c:dLbls>
        <c:gapWidth val="219"/>
        <c:axId val="1751575231"/>
        <c:axId val="1760321471"/>
      </c:barChart>
      <c:lineChart>
        <c:grouping val="standard"/>
        <c:varyColors val="0"/>
        <c:ser>
          <c:idx val="2"/>
          <c:order val="2"/>
          <c:tx>
            <c:strRef>
              <c:f>pivot!$D$142</c:f>
              <c:strCache>
                <c:ptCount val="1"/>
                <c:pt idx="0">
                  <c:v>Sum of Profit</c:v>
                </c:pt>
              </c:strCache>
            </c:strRef>
          </c:tx>
          <c:spPr>
            <a:ln w="28575" cap="rnd">
              <a:solidFill>
                <a:schemeClr val="accent3"/>
              </a:solidFill>
              <a:round/>
            </a:ln>
            <a:effectLst/>
          </c:spPr>
          <c:marker>
            <c:symbol val="none"/>
          </c:marker>
          <c:cat>
            <c:strRef>
              <c:f>pivot!$A$143:$A$148</c:f>
              <c:strCache>
                <c:ptCount val="5"/>
                <c:pt idx="0">
                  <c:v>Channel Partners</c:v>
                </c:pt>
                <c:pt idx="1">
                  <c:v>Enterprise</c:v>
                </c:pt>
                <c:pt idx="2">
                  <c:v>Government</c:v>
                </c:pt>
                <c:pt idx="3">
                  <c:v>Midmarket</c:v>
                </c:pt>
                <c:pt idx="4">
                  <c:v>Small Business</c:v>
                </c:pt>
              </c:strCache>
            </c:strRef>
          </c:cat>
          <c:val>
            <c:numRef>
              <c:f>pivot!$D$143:$D$148</c:f>
              <c:numCache>
                <c:formatCode>General</c:formatCode>
                <c:ptCount val="5"/>
                <c:pt idx="0">
                  <c:v>1315888.3400000001</c:v>
                </c:pt>
                <c:pt idx="1">
                  <c:v>-614545.625</c:v>
                </c:pt>
                <c:pt idx="2">
                  <c:v>11401163.369999999</c:v>
                </c:pt>
                <c:pt idx="3">
                  <c:v>660103.07499999995</c:v>
                </c:pt>
                <c:pt idx="4">
                  <c:v>4143168.5</c:v>
                </c:pt>
              </c:numCache>
            </c:numRef>
          </c:val>
          <c:smooth val="0"/>
          <c:extLst>
            <c:ext xmlns:c16="http://schemas.microsoft.com/office/drawing/2014/chart" uri="{C3380CC4-5D6E-409C-BE32-E72D297353CC}">
              <c16:uniqueId val="{00000002-0F60-441D-8D4A-AE020DB5054D}"/>
            </c:ext>
          </c:extLst>
        </c:ser>
        <c:dLbls>
          <c:showLegendKey val="0"/>
          <c:showVal val="0"/>
          <c:showCatName val="0"/>
          <c:showSerName val="0"/>
          <c:showPercent val="0"/>
          <c:showBubbleSize val="0"/>
        </c:dLbls>
        <c:marker val="1"/>
        <c:smooth val="0"/>
        <c:axId val="1085763263"/>
        <c:axId val="1206553311"/>
      </c:lineChart>
      <c:catAx>
        <c:axId val="1751575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1760321471"/>
        <c:crosses val="autoZero"/>
        <c:auto val="1"/>
        <c:lblAlgn val="ctr"/>
        <c:lblOffset val="100"/>
        <c:noMultiLvlLbl val="0"/>
      </c:catAx>
      <c:valAx>
        <c:axId val="17603214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1751575231"/>
        <c:crosses val="autoZero"/>
        <c:crossBetween val="between"/>
      </c:valAx>
      <c:catAx>
        <c:axId val="1085763263"/>
        <c:scaling>
          <c:orientation val="minMax"/>
        </c:scaling>
        <c:delete val="1"/>
        <c:axPos val="b"/>
        <c:numFmt formatCode="General" sourceLinked="1"/>
        <c:majorTickMark val="out"/>
        <c:minorTickMark val="none"/>
        <c:tickLblPos val="nextTo"/>
        <c:crossAx val="1206553311"/>
        <c:crosses val="autoZero"/>
        <c:auto val="1"/>
        <c:lblAlgn val="ctr"/>
        <c:lblOffset val="100"/>
        <c:noMultiLvlLbl val="0"/>
      </c:catAx>
      <c:valAx>
        <c:axId val="1206553311"/>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1085763263"/>
        <c:crosses val="max"/>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uri="{0b15fc19-7d7d-44ad-8c2d-2c3a37ce22c3}">
        <chartProps xmlns="https://web.wps.cn/et/2018/main" chartId="{d7f9d423-1871-41a5-8fd3-aa9ca85ce103}"/>
      </c:ext>
    </c:extLst>
  </c:chart>
  <c:spPr>
    <a:noFill/>
    <a:ln>
      <a:noFill/>
    </a:ln>
    <a:effectLst/>
  </c:spPr>
  <c:txPr>
    <a:bodyPr/>
    <a:lstStyle/>
    <a:p>
      <a:pPr>
        <a:defRPr lang="en-GB"/>
      </a:pPr>
      <a:endParaRPr lang="en-KE"/>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[project.xlsx]pivot!PivotTable10</c:name>
    <c:fmtId val="-1"/>
  </c:pivotSource>
  <c:chart>
    <c:title>
      <c:tx>
        <c:rich>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r>
              <a:rPr lang="en-US"/>
              <a:t>Month</a:t>
            </a:r>
            <a:r>
              <a:rPr lang="en-US" baseline="0"/>
              <a:t> Vs profit</a:t>
            </a:r>
            <a:endParaRPr lang="en-US"/>
          </a:p>
        </c:rich>
      </c:tx>
      <c:overlay val="0"/>
      <c:spPr>
        <a:noFill/>
        <a:ln>
          <a:noFill/>
        </a:ln>
        <a:effectLst/>
      </c:spPr>
      <c:txPr>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tx>
            <c:strRef>
              <c:f>pivot!$D$99:$D$100</c:f>
              <c:strCache>
                <c:ptCount val="1"/>
                <c:pt idx="0">
                  <c:v>2013</c:v>
                </c:pt>
              </c:strCache>
            </c:strRef>
          </c:tx>
          <c:spPr>
            <a:solidFill>
              <a:schemeClr val="accent1"/>
            </a:solidFill>
            <a:ln>
              <a:noFill/>
            </a:ln>
            <a:effectLst/>
          </c:spPr>
          <c:cat>
            <c:strRef>
              <c:f>pivot!$C$101:$C$113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pivot!$D$101:$D$113</c:f>
              <c:numCache>
                <c:formatCode>General</c:formatCode>
                <c:ptCount val="12"/>
                <c:pt idx="8">
                  <c:v>763603.03</c:v>
                </c:pt>
                <c:pt idx="9">
                  <c:v>1657795.1</c:v>
                </c:pt>
                <c:pt idx="10">
                  <c:v>765502.3</c:v>
                </c:pt>
                <c:pt idx="11">
                  <c:v>691564.08</c:v>
                </c:pt>
              </c:numCache>
            </c:numRef>
          </c:val>
          <c:extLst>
            <c:ext xmlns:c16="http://schemas.microsoft.com/office/drawing/2014/chart" uri="{C3380CC4-5D6E-409C-BE32-E72D297353CC}">
              <c16:uniqueId val="{00000000-B109-4AFC-A419-1FB19744B5DC}"/>
            </c:ext>
          </c:extLst>
        </c:ser>
        <c:ser>
          <c:idx val="1"/>
          <c:order val="1"/>
          <c:tx>
            <c:strRef>
              <c:f>pivot!$E$99:$E$100</c:f>
              <c:strCache>
                <c:ptCount val="1"/>
                <c:pt idx="0">
                  <c:v>2014</c:v>
                </c:pt>
              </c:strCache>
            </c:strRef>
          </c:tx>
          <c:spPr>
            <a:solidFill>
              <a:schemeClr val="accent2"/>
            </a:solidFill>
            <a:ln>
              <a:noFill/>
            </a:ln>
            <a:effectLst/>
          </c:spPr>
          <c:cat>
            <c:strRef>
              <c:f>pivot!$C$101:$C$113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pivot!$E$101:$E$113</c:f>
              <c:numCache>
                <c:formatCode>General</c:formatCode>
                <c:ptCount val="12"/>
                <c:pt idx="0">
                  <c:v>814028.68</c:v>
                </c:pt>
                <c:pt idx="1">
                  <c:v>1148547.3899999999</c:v>
                </c:pt>
                <c:pt idx="2">
                  <c:v>669866.87</c:v>
                </c:pt>
                <c:pt idx="3">
                  <c:v>942974.77</c:v>
                </c:pt>
                <c:pt idx="4">
                  <c:v>828640.06</c:v>
                </c:pt>
                <c:pt idx="5">
                  <c:v>1472839.02</c:v>
                </c:pt>
                <c:pt idx="6">
                  <c:v>923865.68</c:v>
                </c:pt>
                <c:pt idx="7">
                  <c:v>791066.42</c:v>
                </c:pt>
                <c:pt idx="8">
                  <c:v>1023132.24</c:v>
                </c:pt>
                <c:pt idx="9">
                  <c:v>1781985.92</c:v>
                </c:pt>
                <c:pt idx="10">
                  <c:v>604600.19999999995</c:v>
                </c:pt>
                <c:pt idx="11">
                  <c:v>2025765.9</c:v>
                </c:pt>
              </c:numCache>
            </c:numRef>
          </c:val>
          <c:extLst>
            <c:ext xmlns:c16="http://schemas.microsoft.com/office/drawing/2014/chart" uri="{C3380CC4-5D6E-409C-BE32-E72D297353CC}">
              <c16:uniqueId val="{00000001-B109-4AFC-A419-1FB19744B5DC}"/>
            </c:ext>
          </c:extLst>
        </c:ser>
        <c:dLbls>
          <c:showLegendKey val="0"/>
          <c:showVal val="0"/>
          <c:showCatName val="0"/>
          <c:showSerName val="0"/>
          <c:showPercent val="0"/>
          <c:showBubbleSize val="0"/>
        </c:dLbls>
        <c:axId val="45906927"/>
        <c:axId val="70276415"/>
      </c:areaChart>
      <c:catAx>
        <c:axId val="4590692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70276415"/>
        <c:crosses val="autoZero"/>
        <c:auto val="1"/>
        <c:lblAlgn val="ctr"/>
        <c:lblOffset val="100"/>
        <c:noMultiLvlLbl val="0"/>
      </c:catAx>
      <c:valAx>
        <c:axId val="702764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45906927"/>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uri="{0b15fc19-7d7d-44ad-8c2d-2c3a37ce22c3}">
        <chartProps xmlns="https://web.wps.cn/et/2018/main" chartId="{8a95a967-c034-4607-8f6a-aa6ff05f0a8c}"/>
      </c:ext>
    </c:extLst>
  </c:chart>
  <c:spPr>
    <a:noFill/>
    <a:ln>
      <a:noFill/>
    </a:ln>
    <a:effectLst/>
  </c:spPr>
  <c:txPr>
    <a:bodyPr/>
    <a:lstStyle/>
    <a:p>
      <a:pPr>
        <a:defRPr lang="en-GB"/>
      </a:pPr>
      <a:endParaRPr lang="en-KE"/>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[project.xlsx]pivot!PivotTable8</c:name>
    <c:fmtId val="-1"/>
  </c:pivotSource>
  <c:chart>
    <c:title>
      <c:tx>
        <c:rich>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r>
              <a:rPr lang="en-US"/>
              <a:t>Country</a:t>
            </a:r>
            <a:r>
              <a:rPr lang="en-US" baseline="0"/>
              <a:t> vs performance</a:t>
            </a:r>
            <a:endParaRPr lang="en-US"/>
          </a:p>
        </c:rich>
      </c:tx>
      <c:overlay val="0"/>
      <c:spPr>
        <a:noFill/>
        <a:ln>
          <a:noFill/>
        </a:ln>
        <a:effectLst/>
      </c:spPr>
      <c:txPr>
        <a:bodyPr rot="0" spcFirstLastPara="1" vertOverflow="ellipsis" vert="horz" wrap="square" anchor="ctr" anchorCtr="1"/>
        <a:lstStyle/>
        <a:p>
          <a:pPr>
            <a:defRPr lang="en-GB"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2301363625658495E-2"/>
          <c:y val="0.25721784776902901"/>
          <c:w val="0.73160330033521503"/>
          <c:h val="0.60804461942257204"/>
        </c:manualLayout>
      </c:layout>
      <c:barChart>
        <c:barDir val="col"/>
        <c:grouping val="clustered"/>
        <c:varyColors val="0"/>
        <c:ser>
          <c:idx val="0"/>
          <c:order val="0"/>
          <c:tx>
            <c:strRef>
              <c:f>pivot!$B$67</c:f>
              <c:strCache>
                <c:ptCount val="1"/>
                <c:pt idx="0">
                  <c:v>Sum of  Sales</c:v>
                </c:pt>
              </c:strCache>
            </c:strRef>
          </c:tx>
          <c:spPr>
            <a:solidFill>
              <a:schemeClr val="accent1"/>
            </a:solidFill>
            <a:ln>
              <a:noFill/>
            </a:ln>
            <a:effectLst/>
          </c:spPr>
          <c:invertIfNegative val="0"/>
          <c:cat>
            <c:strRef>
              <c:f>pivot!$A$68:$A$73</c:f>
              <c:strCache>
                <c:ptCount val="5"/>
                <c:pt idx="0">
                  <c:v>Mexico</c:v>
                </c:pt>
                <c:pt idx="1">
                  <c:v>France</c:v>
                </c:pt>
                <c:pt idx="2">
                  <c:v>Germany</c:v>
                </c:pt>
                <c:pt idx="3">
                  <c:v>Canada</c:v>
                </c:pt>
                <c:pt idx="4">
                  <c:v>United States Of America</c:v>
                </c:pt>
              </c:strCache>
            </c:strRef>
          </c:cat>
          <c:val>
            <c:numRef>
              <c:f>pivot!$B$68:$B$73</c:f>
              <c:numCache>
                <c:formatCode>General</c:formatCode>
                <c:ptCount val="5"/>
                <c:pt idx="0">
                  <c:v>20949352.109999999</c:v>
                </c:pt>
                <c:pt idx="1">
                  <c:v>23394542.48</c:v>
                </c:pt>
                <c:pt idx="2">
                  <c:v>23486800.82</c:v>
                </c:pt>
                <c:pt idx="3">
                  <c:v>24887654.885000002</c:v>
                </c:pt>
                <c:pt idx="4">
                  <c:v>25133580.565000001</c:v>
                </c:pt>
              </c:numCache>
            </c:numRef>
          </c:val>
          <c:extLst>
            <c:ext xmlns:c16="http://schemas.microsoft.com/office/drawing/2014/chart" uri="{C3380CC4-5D6E-409C-BE32-E72D297353CC}">
              <c16:uniqueId val="{00000000-906C-4821-BDA2-7E14555DD2E8}"/>
            </c:ext>
          </c:extLst>
        </c:ser>
        <c:dLbls>
          <c:showLegendKey val="0"/>
          <c:showVal val="0"/>
          <c:showCatName val="0"/>
          <c:showSerName val="0"/>
          <c:showPercent val="0"/>
          <c:showBubbleSize val="0"/>
        </c:dLbls>
        <c:gapWidth val="219"/>
        <c:axId val="82736239"/>
        <c:axId val="63748991"/>
      </c:barChart>
      <c:barChart>
        <c:barDir val="col"/>
        <c:grouping val="clustered"/>
        <c:varyColors val="0"/>
        <c:ser>
          <c:idx val="1"/>
          <c:order val="1"/>
          <c:tx>
            <c:strRef>
              <c:f>pivot!$C$67</c:f>
              <c:strCache>
                <c:ptCount val="1"/>
                <c:pt idx="0">
                  <c:v>Sum of Profit</c:v>
                </c:pt>
              </c:strCache>
            </c:strRef>
          </c:tx>
          <c:spPr>
            <a:solidFill>
              <a:schemeClr val="accent2"/>
            </a:solidFill>
            <a:ln>
              <a:noFill/>
            </a:ln>
            <a:effectLst/>
          </c:spPr>
          <c:invertIfNegative val="0"/>
          <c:cat>
            <c:strRef>
              <c:f>pivot!$A$68:$A$73</c:f>
              <c:strCache>
                <c:ptCount val="5"/>
                <c:pt idx="0">
                  <c:v>Mexico</c:v>
                </c:pt>
                <c:pt idx="1">
                  <c:v>France</c:v>
                </c:pt>
                <c:pt idx="2">
                  <c:v>Germany</c:v>
                </c:pt>
                <c:pt idx="3">
                  <c:v>Canada</c:v>
                </c:pt>
                <c:pt idx="4">
                  <c:v>United States Of America</c:v>
                </c:pt>
              </c:strCache>
            </c:strRef>
          </c:cat>
          <c:val>
            <c:numRef>
              <c:f>pivot!$C$68:$C$73</c:f>
              <c:numCache>
                <c:formatCode>General</c:formatCode>
                <c:ptCount val="5"/>
                <c:pt idx="0">
                  <c:v>2907523.11</c:v>
                </c:pt>
                <c:pt idx="1">
                  <c:v>3770130.78</c:v>
                </c:pt>
                <c:pt idx="2">
                  <c:v>3666483.82</c:v>
                </c:pt>
                <c:pt idx="3">
                  <c:v>3529228.8849999998</c:v>
                </c:pt>
                <c:pt idx="4">
                  <c:v>3032411.0649999999</c:v>
                </c:pt>
              </c:numCache>
            </c:numRef>
          </c:val>
          <c:extLst>
            <c:ext xmlns:c16="http://schemas.microsoft.com/office/drawing/2014/chart" uri="{C3380CC4-5D6E-409C-BE32-E72D297353CC}">
              <c16:uniqueId val="{00000001-906C-4821-BDA2-7E14555DD2E8}"/>
            </c:ext>
          </c:extLst>
        </c:ser>
        <c:dLbls>
          <c:showLegendKey val="0"/>
          <c:showVal val="0"/>
          <c:showCatName val="0"/>
          <c:showSerName val="0"/>
          <c:showPercent val="0"/>
          <c:showBubbleSize val="0"/>
        </c:dLbls>
        <c:gapWidth val="219"/>
        <c:axId val="1085667679"/>
        <c:axId val="710301215"/>
      </c:barChart>
      <c:lineChart>
        <c:grouping val="standard"/>
        <c:varyColors val="0"/>
        <c:ser>
          <c:idx val="2"/>
          <c:order val="2"/>
          <c:tx>
            <c:strRef>
              <c:f>pivot!$D$67</c:f>
              <c:strCache>
                <c:ptCount val="1"/>
                <c:pt idx="0">
                  <c:v>Sum of COGS</c:v>
                </c:pt>
              </c:strCache>
            </c:strRef>
          </c:tx>
          <c:spPr>
            <a:ln w="28575" cap="rnd">
              <a:solidFill>
                <a:schemeClr val="accent3"/>
              </a:solidFill>
              <a:round/>
            </a:ln>
            <a:effectLst/>
          </c:spPr>
          <c:marker>
            <c:symbol val="none"/>
          </c:marker>
          <c:cat>
            <c:strRef>
              <c:f>pivot!$A$68:$A$73</c:f>
              <c:strCache>
                <c:ptCount val="5"/>
                <c:pt idx="0">
                  <c:v>Mexico</c:v>
                </c:pt>
                <c:pt idx="1">
                  <c:v>France</c:v>
                </c:pt>
                <c:pt idx="2">
                  <c:v>Germany</c:v>
                </c:pt>
                <c:pt idx="3">
                  <c:v>Canada</c:v>
                </c:pt>
                <c:pt idx="4">
                  <c:v>United States Of America</c:v>
                </c:pt>
              </c:strCache>
            </c:strRef>
          </c:cat>
          <c:val>
            <c:numRef>
              <c:f>pivot!$D$68:$D$73</c:f>
              <c:numCache>
                <c:formatCode>"Ksh"#,##0.00</c:formatCode>
                <c:ptCount val="5"/>
                <c:pt idx="0">
                  <c:v>18041829</c:v>
                </c:pt>
                <c:pt idx="1">
                  <c:v>20551371.5</c:v>
                </c:pt>
                <c:pt idx="2">
                  <c:v>19820317</c:v>
                </c:pt>
                <c:pt idx="3">
                  <c:v>21358426</c:v>
                </c:pt>
                <c:pt idx="4">
                  <c:v>22101169.5</c:v>
                </c:pt>
              </c:numCache>
            </c:numRef>
          </c:val>
          <c:smooth val="0"/>
          <c:extLst>
            <c:ext xmlns:c16="http://schemas.microsoft.com/office/drawing/2014/chart" uri="{C3380CC4-5D6E-409C-BE32-E72D297353CC}">
              <c16:uniqueId val="{00000002-906C-4821-BDA2-7E14555DD2E8}"/>
            </c:ext>
          </c:extLst>
        </c:ser>
        <c:dLbls>
          <c:showLegendKey val="0"/>
          <c:showVal val="0"/>
          <c:showCatName val="0"/>
          <c:showSerName val="0"/>
          <c:showPercent val="0"/>
          <c:showBubbleSize val="0"/>
        </c:dLbls>
        <c:marker val="1"/>
        <c:smooth val="0"/>
        <c:axId val="82736239"/>
        <c:axId val="63748991"/>
      </c:lineChart>
      <c:catAx>
        <c:axId val="827362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63748991"/>
        <c:crosses val="autoZero"/>
        <c:auto val="1"/>
        <c:lblAlgn val="ctr"/>
        <c:lblOffset val="100"/>
        <c:noMultiLvlLbl val="0"/>
      </c:catAx>
      <c:valAx>
        <c:axId val="637489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82736239"/>
        <c:crosses val="autoZero"/>
        <c:crossBetween val="between"/>
      </c:valAx>
      <c:catAx>
        <c:axId val="1085667679"/>
        <c:scaling>
          <c:orientation val="minMax"/>
        </c:scaling>
        <c:delete val="1"/>
        <c:axPos val="b"/>
        <c:numFmt formatCode="General" sourceLinked="1"/>
        <c:majorTickMark val="out"/>
        <c:minorTickMark val="none"/>
        <c:tickLblPos val="nextTo"/>
        <c:crossAx val="710301215"/>
        <c:crosses val="autoZero"/>
        <c:auto val="1"/>
        <c:lblAlgn val="ctr"/>
        <c:lblOffset val="100"/>
        <c:noMultiLvlLbl val="0"/>
      </c:catAx>
      <c:valAx>
        <c:axId val="710301215"/>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crossAx val="1085667679"/>
        <c:crosses val="max"/>
        <c:crossBetween val="between"/>
      </c:valAx>
      <c:spPr>
        <a:noFill/>
        <a:ln>
          <a:noFill/>
        </a:ln>
        <a:effectLst/>
      </c:spPr>
    </c:plotArea>
    <c:legend>
      <c:legendPos val="r"/>
      <c:layout>
        <c:manualLayout>
          <c:xMode val="edge"/>
          <c:yMode val="edge"/>
          <c:x val="0.88352608097900798"/>
          <c:y val="0.47420773452269499"/>
          <c:w val="0.111007971829608"/>
          <c:h val="0.30375236312244203"/>
        </c:manualLayout>
      </c:layout>
      <c:overlay val="0"/>
      <c:spPr>
        <a:noFill/>
        <a:ln>
          <a:noFill/>
        </a:ln>
        <a:effectLst/>
      </c:spPr>
      <c:txPr>
        <a:bodyPr rot="0" spcFirstLastPara="1" vertOverflow="ellipsis" vert="horz" wrap="square" anchor="ctr" anchorCtr="1"/>
        <a:lstStyle/>
        <a:p>
          <a:pPr>
            <a:defRPr lang="en-GB" sz="900"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uri="{0b15fc19-7d7d-44ad-8c2d-2c3a37ce22c3}">
        <chartProps xmlns="https://web.wps.cn/et/2018/main" chartId="{d5fe7f5e-8d33-4127-b427-dbf27161faa4}"/>
      </c:ext>
    </c:extLst>
  </c:chart>
  <c:spPr>
    <a:noFill/>
    <a:ln>
      <a:noFill/>
    </a:ln>
    <a:effectLst/>
  </c:spPr>
  <c:txPr>
    <a:bodyPr/>
    <a:lstStyle/>
    <a:p>
      <a:pPr>
        <a:defRPr lang="en-GB"/>
      </a:pPr>
      <a:endParaRPr lang="en-KE"/>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64953-5492-FB39-19C1-5CBA768421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7DC73916-21AA-5A76-2B91-7DA03B432F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9B5BB36F-666B-AE52-39D8-5296D1C8D735}"/>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5" name="Footer Placeholder 4">
            <a:extLst>
              <a:ext uri="{FF2B5EF4-FFF2-40B4-BE49-F238E27FC236}">
                <a16:creationId xmlns:a16="http://schemas.microsoft.com/office/drawing/2014/main" id="{9496E59B-C517-0430-603D-5487A7455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3855F-39C2-C1E9-6B4E-4D980550BEF5}"/>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36414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DB68-A7DD-756F-65C1-EE79C421FDED}"/>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E91AB5A1-4371-EDA8-9001-6F4485F882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2ED0C0BA-9777-9494-4C8D-DDBE15E6A92A}"/>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5" name="Footer Placeholder 4">
            <a:extLst>
              <a:ext uri="{FF2B5EF4-FFF2-40B4-BE49-F238E27FC236}">
                <a16:creationId xmlns:a16="http://schemas.microsoft.com/office/drawing/2014/main" id="{948B90F0-7011-21A3-31B6-CCDAA106D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5FEFA-8212-6DD8-6746-48937BE1A333}"/>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76503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385C0-10BC-1F05-A736-D6441D63FC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9212C1B3-9148-91F6-6763-16A7470AE0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7E30B1-3418-F26A-232C-CD60F79CABF7}"/>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5" name="Footer Placeholder 4">
            <a:extLst>
              <a:ext uri="{FF2B5EF4-FFF2-40B4-BE49-F238E27FC236}">
                <a16:creationId xmlns:a16="http://schemas.microsoft.com/office/drawing/2014/main" id="{27901CAC-3D7A-5214-D18C-C7467FAA2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70691-2ED9-1DB4-FBAC-006A851B7ABF}"/>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97015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08F83-7B5E-58B0-024D-5BB0D241734A}"/>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4494CCAD-1335-5334-1CC2-AE20354C62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367CCD0D-C3A8-C684-3DDF-6271E228D3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47BD4D73-2AFE-09D4-AE28-CD9777166D23}"/>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6" name="Footer Placeholder 5">
            <a:extLst>
              <a:ext uri="{FF2B5EF4-FFF2-40B4-BE49-F238E27FC236}">
                <a16:creationId xmlns:a16="http://schemas.microsoft.com/office/drawing/2014/main" id="{76411E81-FB4B-9F91-A3B3-A19159C4C1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6769AE-AA13-6E49-55D6-841CF1B7B4EC}"/>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185371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55F77-04DB-7FD5-FA39-E4EFA620AEC9}"/>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1D0AE5C9-7D0E-6A53-FA41-53D4864D14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A101E-B6F9-246C-5329-1E69E841FA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6F724FB2-49EB-5165-E487-FF9105F088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2EE050-6D0A-ECF8-B5DD-0696F8AA60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EEFC9F35-C2E9-76C1-D429-CE41CF6D61DD}"/>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8" name="Footer Placeholder 7">
            <a:extLst>
              <a:ext uri="{FF2B5EF4-FFF2-40B4-BE49-F238E27FC236}">
                <a16:creationId xmlns:a16="http://schemas.microsoft.com/office/drawing/2014/main" id="{0AACFCB2-19BA-6130-AB4B-DC4E910501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C6619D-C2F3-98F3-460F-B9A8DC7F512F}"/>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13059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628A-9280-0543-FD6C-B12E251E0305}"/>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78731C16-C573-2701-CDFE-6A40E821A5CD}"/>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4" name="Footer Placeholder 3">
            <a:extLst>
              <a:ext uri="{FF2B5EF4-FFF2-40B4-BE49-F238E27FC236}">
                <a16:creationId xmlns:a16="http://schemas.microsoft.com/office/drawing/2014/main" id="{949C4975-D59C-A8A4-5A54-B547AFDF9C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A999C2-9F8E-C1C1-2B60-D89C2B963DB1}"/>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52439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BFFC6A-7F5C-982C-623E-63581E9DFACF}"/>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3" name="Footer Placeholder 2">
            <a:extLst>
              <a:ext uri="{FF2B5EF4-FFF2-40B4-BE49-F238E27FC236}">
                <a16:creationId xmlns:a16="http://schemas.microsoft.com/office/drawing/2014/main" id="{F7B05C34-08F7-E38C-4C96-26B6CA0815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635D6E-6DB4-06F3-86C9-34368F99E2F3}"/>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24217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315AB-868F-67C9-C164-EA66EC905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0092775A-0AE5-69FB-21DB-7A5BF63CA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64EB655B-4C85-2922-8073-A0BD52277E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4FA15B-7B35-9996-3AF3-A6BDBDBC600C}"/>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6" name="Footer Placeholder 5">
            <a:extLst>
              <a:ext uri="{FF2B5EF4-FFF2-40B4-BE49-F238E27FC236}">
                <a16:creationId xmlns:a16="http://schemas.microsoft.com/office/drawing/2014/main" id="{45EE7FB2-BF77-FE41-D69B-5988A9D54F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53F872-32E7-8F7C-9095-15478FA566E1}"/>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263843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A0FE6-BEED-779F-3BC5-58F5B2413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CE1EE60F-653E-23D9-0ED8-86B0D38E6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7C470C95-C7CC-CF9B-80BC-D0B4A5EE4D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FC63CE-5F73-484A-B822-EB22AE43E08F}"/>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6" name="Footer Placeholder 5">
            <a:extLst>
              <a:ext uri="{FF2B5EF4-FFF2-40B4-BE49-F238E27FC236}">
                <a16:creationId xmlns:a16="http://schemas.microsoft.com/office/drawing/2014/main" id="{11FEB03C-8454-67A6-1C63-CFDD101E7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A27462-E0F9-B87D-797B-6A35DA661A6A}"/>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69114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BC725-C8EC-4881-AA14-DC89410DC0D4}"/>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97162AA8-91FB-D2F1-5C9A-B4BD6654B4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02B54AFD-513B-C8A2-B628-B50DB51C68BE}"/>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5" name="Footer Placeholder 4">
            <a:extLst>
              <a:ext uri="{FF2B5EF4-FFF2-40B4-BE49-F238E27FC236}">
                <a16:creationId xmlns:a16="http://schemas.microsoft.com/office/drawing/2014/main" id="{C640DC70-4EEC-2914-AB95-D64AA2EA4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979B33-B765-2102-5672-4824DE2590CE}"/>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03370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668DA1-3B9E-CCC6-9FCD-6F53A793A8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F2DB62D6-F513-8F4D-FBD9-46EAE2E7AE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7093FF37-D262-022F-D554-1005ABBF88C3}"/>
              </a:ext>
            </a:extLst>
          </p:cNvPr>
          <p:cNvSpPr>
            <a:spLocks noGrp="1"/>
          </p:cNvSpPr>
          <p:nvPr>
            <p:ph type="dt" sz="half" idx="10"/>
          </p:nvPr>
        </p:nvSpPr>
        <p:spPr/>
        <p:txBody>
          <a:bodyPr/>
          <a:lstStyle/>
          <a:p>
            <a:fld id="{63A1C593-65D0-4073-BCC9-577B9352EA97}" type="datetimeFigureOut">
              <a:rPr lang="en-US" smtClean="0"/>
              <a:t>9/18/2026</a:t>
            </a:fld>
            <a:endParaRPr lang="en-US"/>
          </a:p>
        </p:txBody>
      </p:sp>
      <p:sp>
        <p:nvSpPr>
          <p:cNvPr id="5" name="Footer Placeholder 4">
            <a:extLst>
              <a:ext uri="{FF2B5EF4-FFF2-40B4-BE49-F238E27FC236}">
                <a16:creationId xmlns:a16="http://schemas.microsoft.com/office/drawing/2014/main" id="{672202AB-DD9B-0C09-C4F2-89D8C18C1F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8A235-F783-6A67-44C6-D188C00553D6}"/>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210198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63A1C593-65D0-4073-BCC9-577B9352EA97}" type="datetimeFigureOut">
              <a:rPr lang="en-US" smtClean="0"/>
              <a:t>9/18/2026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158487360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63A1C593-65D0-4073-BCC9-577B9352EA97}" type="datetimeFigureOut">
              <a:rPr lang="en-US" smtClean="0"/>
              <a:t>9/18/2026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9B618960-8005-486C-9A75-10CB2AAC16F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73250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AED7DC-F86F-1920-90F4-263C99565E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C19B52B8-460D-ECF6-9014-CA4E1A96B1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D7EA845B-12E9-712C-C6CF-C866CDD4E2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A1C593-65D0-4073-BCC9-577B9352EA97}" type="datetimeFigureOut">
              <a:rPr lang="en-US" smtClean="0"/>
              <a:t>9/18/2026</a:t>
            </a:fld>
            <a:endParaRPr lang="en-US"/>
          </a:p>
        </p:txBody>
      </p:sp>
      <p:sp>
        <p:nvSpPr>
          <p:cNvPr id="5" name="Footer Placeholder 4">
            <a:extLst>
              <a:ext uri="{FF2B5EF4-FFF2-40B4-BE49-F238E27FC236}">
                <a16:creationId xmlns:a16="http://schemas.microsoft.com/office/drawing/2014/main" id="{F2498B46-97BB-8F02-8184-4998F83242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C614CE-3A79-16B9-AEBA-BC67CEDA7E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402248242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 on document with pen">
            <a:extLst>
              <a:ext uri="{FF2B5EF4-FFF2-40B4-BE49-F238E27FC236}">
                <a16:creationId xmlns:a16="http://schemas.microsoft.com/office/drawing/2014/main" id="{58C300FB-285D-9022-8459-D9FA415ABF06}"/>
              </a:ext>
            </a:extLst>
          </p:cNvPr>
          <p:cNvPicPr>
            <a:picLocks noChangeAspect="1"/>
          </p:cNvPicPr>
          <p:nvPr/>
        </p:nvPicPr>
        <p:blipFill>
          <a:blip r:embed="rId2"/>
          <a:srcRect t="1500" r="-1" b="14208"/>
          <a:stretch>
            <a:fillRect/>
          </a:stretch>
        </p:blipFill>
        <p:spPr>
          <a:xfrm>
            <a:off x="3068" y="9939"/>
            <a:ext cx="12188932" cy="6857990"/>
          </a:xfrm>
          <a:prstGeom prst="rect">
            <a:avLst/>
          </a:prstGeom>
          <a:noFill/>
        </p:spPr>
      </p:pic>
      <p:sp>
        <p:nvSpPr>
          <p:cNvPr id="2" name="Title 1"/>
          <p:cNvSpPr>
            <a:spLocks noGrp="1"/>
          </p:cNvSpPr>
          <p:nvPr>
            <p:ph type="title"/>
          </p:nvPr>
        </p:nvSpPr>
        <p:spPr>
          <a:xfrm>
            <a:off x="3048" y="3161815"/>
            <a:ext cx="12188952" cy="2394157"/>
          </a:xfrm>
        </p:spPr>
        <p:txBody>
          <a:bodyPr anchor="b">
            <a:noAutofit/>
          </a:bodyPr>
          <a:lstStyle/>
          <a:p>
            <a:r>
              <a:rPr lang="en-US" sz="7200" dirty="0"/>
              <a:t>FINANCIAL DATA </a:t>
            </a:r>
            <a:br>
              <a:rPr lang="en-US" sz="7200" dirty="0"/>
            </a:br>
            <a:r>
              <a:rPr lang="en-US" sz="7200" dirty="0"/>
              <a:t>ANALYSIS </a:t>
            </a:r>
            <a:br>
              <a:rPr lang="en-US" sz="7200" dirty="0"/>
            </a:br>
            <a:r>
              <a:rPr lang="en-US" sz="7200" dirty="0"/>
              <a:t>REPORT</a:t>
            </a:r>
          </a:p>
        </p:txBody>
      </p:sp>
      <p:sp>
        <p:nvSpPr>
          <p:cNvPr id="3" name="Subtitle 2"/>
          <p:cNvSpPr>
            <a:spLocks noGrp="1"/>
          </p:cNvSpPr>
          <p:nvPr>
            <p:ph type="subTitle" idx="1"/>
          </p:nvPr>
        </p:nvSpPr>
        <p:spPr>
          <a:xfrm>
            <a:off x="378635" y="4253953"/>
            <a:ext cx="5252832" cy="2394157"/>
          </a:xfrm>
        </p:spPr>
        <p:txBody>
          <a:bodyPr anchor="b">
            <a:normAutofit/>
          </a:bodyPr>
          <a:lstStyle/>
          <a:p>
            <a:r>
              <a:rPr lang="en-US" sz="3200" i="1" dirty="0">
                <a:latin typeface="Cambria" panose="02040503050406030204" pitchFamily="18" charset="0"/>
                <a:ea typeface="Cambria" panose="02040503050406030204" pitchFamily="18" charset="0"/>
              </a:rPr>
              <a:t>BY NICOLE MUTHEE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B679D-ED04-C0F3-240E-84A7C8BD5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149C8-D24B-B37F-04CC-FE8A36D6CD64}"/>
              </a:ext>
            </a:extLst>
          </p:cNvPr>
          <p:cNvSpPr>
            <a:spLocks noGrp="1"/>
          </p:cNvSpPr>
          <p:nvPr>
            <p:ph type="title"/>
          </p:nvPr>
        </p:nvSpPr>
        <p:spPr>
          <a:xfrm>
            <a:off x="3048" y="0"/>
            <a:ext cx="12188952" cy="2394157"/>
          </a:xfrm>
        </p:spPr>
        <p:txBody>
          <a:bodyPr anchor="b">
            <a:noAutofit/>
          </a:bodyPr>
          <a:lstStyle/>
          <a:p>
            <a:r>
              <a:rPr lang="en-US" sz="7200" dirty="0"/>
              <a:t>Problem statement</a:t>
            </a:r>
          </a:p>
        </p:txBody>
      </p:sp>
      <p:pic>
        <p:nvPicPr>
          <p:cNvPr id="5" name="Picture 4" descr="Graph on document with pen">
            <a:extLst>
              <a:ext uri="{FF2B5EF4-FFF2-40B4-BE49-F238E27FC236}">
                <a16:creationId xmlns:a16="http://schemas.microsoft.com/office/drawing/2014/main" id="{AA40C6F4-4031-CC2D-9536-AA2A9FC3985D}"/>
              </a:ext>
            </a:extLst>
          </p:cNvPr>
          <p:cNvPicPr>
            <a:picLocks noChangeAspect="1"/>
          </p:cNvPicPr>
          <p:nvPr/>
        </p:nvPicPr>
        <p:blipFill>
          <a:blip r:embed="rId2"/>
          <a:srcRect t="1500" r="-1" b="14208"/>
          <a:stretch>
            <a:fillRect/>
          </a:stretch>
        </p:blipFill>
        <p:spPr>
          <a:xfrm>
            <a:off x="5718899" y="10"/>
            <a:ext cx="6473101" cy="6857990"/>
          </a:xfrm>
          <a:prstGeom prst="rect">
            <a:avLst/>
          </a:prstGeom>
          <a:noFill/>
        </p:spPr>
      </p:pic>
      <p:sp>
        <p:nvSpPr>
          <p:cNvPr id="3" name="Subtitle 2">
            <a:extLst>
              <a:ext uri="{FF2B5EF4-FFF2-40B4-BE49-F238E27FC236}">
                <a16:creationId xmlns:a16="http://schemas.microsoft.com/office/drawing/2014/main" id="{A747108F-18B8-FAC6-A347-5E7EA42D126E}"/>
              </a:ext>
            </a:extLst>
          </p:cNvPr>
          <p:cNvSpPr>
            <a:spLocks noGrp="1"/>
          </p:cNvSpPr>
          <p:nvPr>
            <p:ph type="subTitle" idx="1"/>
          </p:nvPr>
        </p:nvSpPr>
        <p:spPr>
          <a:xfrm>
            <a:off x="234558" y="3886206"/>
            <a:ext cx="5252832" cy="2394157"/>
          </a:xfrm>
        </p:spPr>
        <p:txBody>
          <a:bodyPr anchor="b">
            <a:noAutofit/>
          </a:bodyPr>
          <a:lstStyle/>
          <a:p>
            <a:r>
              <a:rPr lang="en-US" sz="2400" i="1" dirty="0">
                <a:latin typeface="Cambria" panose="02040503050406030204" pitchFamily="18" charset="0"/>
                <a:ea typeface="Cambria" panose="02040503050406030204" pitchFamily="18" charset="0"/>
              </a:rPr>
              <a:t>The business needs to understand how sales, costs, profit, discounts, products, countries, customer segments, and months affect overall financial performance. This analysis identifies the best and weakest-performing areas and provides recommendations for improving profitability and resource allocation</a:t>
            </a:r>
          </a:p>
        </p:txBody>
      </p:sp>
    </p:spTree>
    <p:extLst>
      <p:ext uri="{BB962C8B-B14F-4D97-AF65-F5344CB8AC3E}">
        <p14:creationId xmlns:p14="http://schemas.microsoft.com/office/powerpoint/2010/main" val="1068538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546E9-2F38-182E-513A-1ED1F84A9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3AAD1-A5EF-7411-78D2-77FFADC4F9D7}"/>
              </a:ext>
            </a:extLst>
          </p:cNvPr>
          <p:cNvSpPr>
            <a:spLocks noGrp="1"/>
          </p:cNvSpPr>
          <p:nvPr>
            <p:ph type="title"/>
          </p:nvPr>
        </p:nvSpPr>
        <p:spPr>
          <a:xfrm>
            <a:off x="3048" y="0"/>
            <a:ext cx="12188952" cy="2394157"/>
          </a:xfrm>
        </p:spPr>
        <p:txBody>
          <a:bodyPr anchor="b">
            <a:noAutofit/>
          </a:bodyPr>
          <a:lstStyle/>
          <a:p>
            <a:r>
              <a:rPr lang="en-US" sz="7200" dirty="0"/>
              <a:t>Goals</a:t>
            </a:r>
          </a:p>
        </p:txBody>
      </p:sp>
      <p:pic>
        <p:nvPicPr>
          <p:cNvPr id="5" name="Picture 4" descr="Graph on document with pen">
            <a:extLst>
              <a:ext uri="{FF2B5EF4-FFF2-40B4-BE49-F238E27FC236}">
                <a16:creationId xmlns:a16="http://schemas.microsoft.com/office/drawing/2014/main" id="{71455D0A-7F24-A55B-DD7A-B7669A617D3B}"/>
              </a:ext>
            </a:extLst>
          </p:cNvPr>
          <p:cNvPicPr>
            <a:picLocks noChangeAspect="1"/>
          </p:cNvPicPr>
          <p:nvPr/>
        </p:nvPicPr>
        <p:blipFill>
          <a:blip r:embed="rId2"/>
          <a:srcRect t="1500" r="-1" b="14208"/>
          <a:stretch>
            <a:fillRect/>
          </a:stretch>
        </p:blipFill>
        <p:spPr>
          <a:xfrm>
            <a:off x="5718899" y="10"/>
            <a:ext cx="6473101" cy="6857990"/>
          </a:xfrm>
          <a:prstGeom prst="rect">
            <a:avLst/>
          </a:prstGeom>
          <a:noFill/>
        </p:spPr>
      </p:pic>
      <p:sp>
        <p:nvSpPr>
          <p:cNvPr id="3" name="Subtitle 2">
            <a:extLst>
              <a:ext uri="{FF2B5EF4-FFF2-40B4-BE49-F238E27FC236}">
                <a16:creationId xmlns:a16="http://schemas.microsoft.com/office/drawing/2014/main" id="{12382F49-0D51-CF99-D2A4-B979E7741F23}"/>
              </a:ext>
            </a:extLst>
          </p:cNvPr>
          <p:cNvSpPr>
            <a:spLocks noGrp="1"/>
          </p:cNvSpPr>
          <p:nvPr>
            <p:ph type="subTitle" idx="1"/>
          </p:nvPr>
        </p:nvSpPr>
        <p:spPr>
          <a:xfrm>
            <a:off x="234558" y="4463843"/>
            <a:ext cx="5252832" cy="2394157"/>
          </a:xfrm>
        </p:spPr>
        <p:txBody>
          <a:bodyPr anchor="b">
            <a:noAutofit/>
          </a:bodyPr>
          <a:lstStyle/>
          <a:p>
            <a:pPr marL="342900" indent="-342900">
              <a:buFont typeface="Wingdings" panose="05000000000000000000" pitchFamily="2" charset="2"/>
              <a:buChar char="Ø"/>
            </a:pPr>
            <a:r>
              <a:rPr lang="en-US" sz="2400" i="1" dirty="0">
                <a:latin typeface="Cambria" panose="02040503050406030204" pitchFamily="18" charset="0"/>
                <a:ea typeface="Cambria" panose="02040503050406030204" pitchFamily="18" charset="0"/>
              </a:rPr>
              <a:t>Analyze the dataset to identify patterns and trends related to revenue, expenses, and profit across various product categories and regions.</a:t>
            </a:r>
          </a:p>
          <a:p>
            <a:pPr marL="342900" indent="-342900">
              <a:buFont typeface="Wingdings" panose="05000000000000000000" pitchFamily="2" charset="2"/>
              <a:buChar char="Ø"/>
            </a:pPr>
            <a:r>
              <a:rPr lang="en-KE" sz="2400" dirty="0">
                <a:latin typeface="Cambria" panose="02040503050406030204" pitchFamily="18" charset="0"/>
                <a:ea typeface="Cambria" panose="02040503050406030204" pitchFamily="18" charset="0"/>
              </a:rPr>
              <a:t>Evaluate findings and propose recommendations for cost-saving measures and revenue growth, supported by data visualizations and key metrics.</a:t>
            </a:r>
          </a:p>
          <a:p>
            <a:pPr marL="342900" indent="-342900">
              <a:buFont typeface="Wingdings" panose="05000000000000000000" pitchFamily="2" charset="2"/>
              <a:buChar char="Ø"/>
            </a:pPr>
            <a:endParaRPr lang="en-US" sz="2400"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62974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EBF2B-3E81-B80F-39E2-83DD001E7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E548C-6BC9-5D5C-97F1-04E60895F76C}"/>
              </a:ext>
            </a:extLst>
          </p:cNvPr>
          <p:cNvSpPr>
            <a:spLocks noGrp="1"/>
          </p:cNvSpPr>
          <p:nvPr>
            <p:ph type="title"/>
          </p:nvPr>
        </p:nvSpPr>
        <p:spPr>
          <a:xfrm>
            <a:off x="3048" y="0"/>
            <a:ext cx="12188952" cy="2394157"/>
          </a:xfrm>
        </p:spPr>
        <p:txBody>
          <a:bodyPr anchor="b">
            <a:noAutofit/>
          </a:bodyPr>
          <a:lstStyle/>
          <a:p>
            <a:r>
              <a:rPr lang="en-US" sz="6600" dirty="0"/>
              <a:t>Data Understanding</a:t>
            </a:r>
          </a:p>
        </p:txBody>
      </p:sp>
      <p:pic>
        <p:nvPicPr>
          <p:cNvPr id="5" name="Picture 4" descr="Graph on document with pen">
            <a:extLst>
              <a:ext uri="{FF2B5EF4-FFF2-40B4-BE49-F238E27FC236}">
                <a16:creationId xmlns:a16="http://schemas.microsoft.com/office/drawing/2014/main" id="{B3A7E0FE-D7AF-9500-2A5E-B3427BA4D15E}"/>
              </a:ext>
            </a:extLst>
          </p:cNvPr>
          <p:cNvPicPr>
            <a:picLocks noChangeAspect="1"/>
          </p:cNvPicPr>
          <p:nvPr/>
        </p:nvPicPr>
        <p:blipFill>
          <a:blip r:embed="rId2"/>
          <a:srcRect t="1500" r="-1" b="14208"/>
          <a:stretch>
            <a:fillRect/>
          </a:stretch>
        </p:blipFill>
        <p:spPr>
          <a:xfrm>
            <a:off x="5718899" y="10"/>
            <a:ext cx="6473101" cy="6857990"/>
          </a:xfrm>
          <a:prstGeom prst="rect">
            <a:avLst/>
          </a:prstGeom>
          <a:noFill/>
        </p:spPr>
      </p:pic>
      <p:sp>
        <p:nvSpPr>
          <p:cNvPr id="3" name="Subtitle 2">
            <a:extLst>
              <a:ext uri="{FF2B5EF4-FFF2-40B4-BE49-F238E27FC236}">
                <a16:creationId xmlns:a16="http://schemas.microsoft.com/office/drawing/2014/main" id="{D55DE953-647A-70E7-4E8C-CDD433C6617D}"/>
              </a:ext>
            </a:extLst>
          </p:cNvPr>
          <p:cNvSpPr>
            <a:spLocks noGrp="1"/>
          </p:cNvSpPr>
          <p:nvPr>
            <p:ph type="subTitle" idx="1"/>
          </p:nvPr>
        </p:nvSpPr>
        <p:spPr>
          <a:xfrm>
            <a:off x="234558" y="3768103"/>
            <a:ext cx="5252832" cy="2394157"/>
          </a:xfrm>
        </p:spPr>
        <p:txBody>
          <a:bodyPr anchor="b">
            <a:noAutofit/>
          </a:bodyPr>
          <a:lstStyle/>
          <a:p>
            <a:pPr marL="342900" indent="-342900">
              <a:buFont typeface="Wingdings" panose="05000000000000000000" pitchFamily="2" charset="2"/>
              <a:buChar char="Ø"/>
            </a:pPr>
            <a:r>
              <a:rPr lang="en-KE" sz="2400" dirty="0"/>
              <a:t>The dataset contains 700 sales records and 16 fields (segment, country, product, discount band, units sold, manufacturing price, sale price, gross sales, discounts, sales, COGS, profit, date, month, year), covering September 2013 to December 2014 across 5 segments, 5 countries and 6 products.</a:t>
            </a:r>
            <a:endParaRPr lang="en-US" sz="2400"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0208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title"/>
          </p:nvPr>
        </p:nvSpPr>
        <p:spPr>
          <a:xfrm>
            <a:off x="446230" y="342922"/>
            <a:ext cx="3603256" cy="1409878"/>
          </a:xfrm>
        </p:spPr>
        <p:txBody>
          <a:bodyPr anchor="t">
            <a:normAutofit fontScale="90000"/>
          </a:bodyPr>
          <a:lstStyle/>
          <a:p>
            <a:r>
              <a:rPr lang="en-GB" altLang="en-US" dirty="0"/>
              <a:t>PRODUCT PERFORMANCE</a:t>
            </a:r>
          </a:p>
        </p:txBody>
      </p:sp>
      <p:sp>
        <p:nvSpPr>
          <p:cNvPr id="4" name="TextBox 3">
            <a:extLst>
              <a:ext uri="{FF2B5EF4-FFF2-40B4-BE49-F238E27FC236}">
                <a16:creationId xmlns:a16="http://schemas.microsoft.com/office/drawing/2014/main" id="{AE3E2ADA-4F1C-AF21-452E-728B8159BC0B}"/>
              </a:ext>
            </a:extLst>
          </p:cNvPr>
          <p:cNvSpPr txBox="1"/>
          <p:nvPr/>
        </p:nvSpPr>
        <p:spPr>
          <a:xfrm>
            <a:off x="446230" y="1409501"/>
            <a:ext cx="3603256" cy="3695700"/>
          </a:xfrm>
          <a:prstGeom prst="rect">
            <a:avLst/>
          </a:prstGeom>
        </p:spPr>
        <p:txBody>
          <a:bodyPr vert="horz" lIns="91440" tIns="45720" rIns="91440" bIns="45720" rtlCol="0" anchor="t">
            <a:noAutofit/>
          </a:bodyPr>
          <a:lstStyle/>
          <a:p>
            <a:pPr marL="342900" indent="-342900">
              <a:spcBef>
                <a:spcPts val="1000"/>
              </a:spcBef>
              <a:buFont typeface="Wingdings" panose="05000000000000000000" pitchFamily="2" charset="2"/>
              <a:buChar char="Ø"/>
            </a:pPr>
            <a:r>
              <a:rPr lang="en-US" kern="1200" dirty="0">
                <a:latin typeface="Cambria" panose="02040503050406030204" pitchFamily="18" charset="0"/>
                <a:ea typeface="Cambria" panose="02040503050406030204" pitchFamily="18" charset="0"/>
              </a:rPr>
              <a:t>Paseo is the best performing product in terms of sales ,profit and cost of goods sold</a:t>
            </a:r>
          </a:p>
          <a:p>
            <a:pPr marL="342900" indent="-342900">
              <a:spcBef>
                <a:spcPts val="1000"/>
              </a:spcBef>
              <a:buFont typeface="Wingdings" panose="05000000000000000000" pitchFamily="2" charset="2"/>
              <a:buChar char="Ø"/>
            </a:pPr>
            <a:r>
              <a:rPr lang="en-US" kern="1200" dirty="0">
                <a:latin typeface="Cambria" panose="02040503050406030204" pitchFamily="18" charset="0"/>
                <a:ea typeface="Cambria" panose="02040503050406030204" pitchFamily="18" charset="0"/>
              </a:rPr>
              <a:t>This is with sales of over 30,000,000,profit of 5,000,000 and COGS of approximately 28,000,000</a:t>
            </a:r>
          </a:p>
          <a:p>
            <a:pPr marL="342900" indent="-342900">
              <a:spcBef>
                <a:spcPts val="1000"/>
              </a:spcBef>
              <a:buFont typeface="Wingdings" panose="05000000000000000000" pitchFamily="2" charset="2"/>
              <a:buChar char="Ø"/>
            </a:pPr>
            <a:r>
              <a:rPr lang="en-US" kern="1200" dirty="0">
                <a:latin typeface="Cambria" panose="02040503050406030204" pitchFamily="18" charset="0"/>
                <a:ea typeface="Cambria" panose="02040503050406030204" pitchFamily="18" charset="0"/>
              </a:rPr>
              <a:t>Carretera is the least performing product in terms of </a:t>
            </a:r>
            <a:r>
              <a:rPr lang="en-US" kern="1200" dirty="0" err="1">
                <a:latin typeface="Cambria" panose="02040503050406030204" pitchFamily="18" charset="0"/>
                <a:ea typeface="Cambria" panose="02040503050406030204" pitchFamily="18" charset="0"/>
              </a:rPr>
              <a:t>sales,profit</a:t>
            </a:r>
            <a:r>
              <a:rPr lang="en-US" kern="1200" dirty="0">
                <a:latin typeface="Cambria" panose="02040503050406030204" pitchFamily="18" charset="0"/>
                <a:ea typeface="Cambria" panose="02040503050406030204" pitchFamily="18" charset="0"/>
              </a:rPr>
              <a:t> and COGS</a:t>
            </a:r>
          </a:p>
          <a:p>
            <a:pPr marL="342900" indent="-342900">
              <a:spcBef>
                <a:spcPts val="1000"/>
              </a:spcBef>
              <a:buFont typeface="Wingdings" panose="05000000000000000000" pitchFamily="2" charset="2"/>
              <a:buChar char="Ø"/>
            </a:pPr>
            <a:r>
              <a:rPr lang="en-US" kern="1200" dirty="0">
                <a:latin typeface="Cambria" panose="02040503050406030204" pitchFamily="18" charset="0"/>
                <a:ea typeface="Cambria" panose="02040503050406030204" pitchFamily="18" charset="0"/>
              </a:rPr>
              <a:t>This is with sales of less than 15,000,000,profit of less than 5,000,000 and COGS of less than 15,000,000</a:t>
            </a:r>
          </a:p>
        </p:txBody>
      </p:sp>
      <p:pic>
        <p:nvPicPr>
          <p:cNvPr id="6" name="Picture 5"/>
          <p:cNvPicPr>
            <a:picLocks noChangeAspect="1"/>
          </p:cNvPicPr>
          <p:nvPr/>
        </p:nvPicPr>
        <p:blipFill>
          <a:blip r:embed="rId2"/>
          <a:stretch>
            <a:fillRect/>
          </a:stretch>
        </p:blipFill>
        <p:spPr>
          <a:xfrm>
            <a:off x="4786182" y="1531696"/>
            <a:ext cx="7256731" cy="4354039"/>
          </a:xfrm>
          <a:prstGeom prst="rect">
            <a:avLst/>
          </a:prstGeom>
          <a:noFill/>
        </p:spPr>
      </p:pic>
      <p:sp>
        <p:nvSpPr>
          <p:cNvPr id="2" name="TextBox 1">
            <a:extLst>
              <a:ext uri="{FF2B5EF4-FFF2-40B4-BE49-F238E27FC236}">
                <a16:creationId xmlns:a16="http://schemas.microsoft.com/office/drawing/2014/main" id="{C93AE777-540F-A5D3-EC6F-5BB4CE0E4EDD}"/>
              </a:ext>
            </a:extLst>
          </p:cNvPr>
          <p:cNvSpPr txBox="1"/>
          <p:nvPr/>
        </p:nvSpPr>
        <p:spPr>
          <a:xfrm>
            <a:off x="1192697" y="102361"/>
            <a:ext cx="7909458" cy="461665"/>
          </a:xfrm>
          <a:prstGeom prst="rect">
            <a:avLst/>
          </a:prstGeom>
          <a:noFill/>
        </p:spPr>
        <p:txBody>
          <a:bodyPr wrap="square" rtlCol="0">
            <a:spAutoFit/>
          </a:bodyPr>
          <a:lstStyle/>
          <a:p>
            <a:endParaRPr lang="en-KE" sz="24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524000" y="113403"/>
            <a:ext cx="9144000" cy="622092"/>
          </a:xfrm>
        </p:spPr>
        <p:txBody>
          <a:bodyPr>
            <a:noAutofit/>
          </a:bodyPr>
          <a:lstStyle/>
          <a:p>
            <a:r>
              <a:rPr lang="en-GB" altLang="en-US" sz="4000" dirty="0"/>
              <a:t>COUNTRY PERFORMANCE</a:t>
            </a:r>
          </a:p>
        </p:txBody>
      </p:sp>
      <p:graphicFrame>
        <p:nvGraphicFramePr>
          <p:cNvPr id="4" name="Chart 3"/>
          <p:cNvGraphicFramePr/>
          <p:nvPr>
            <p:extLst>
              <p:ext uri="{D42A27DB-BD31-4B8C-83A1-F6EECF244321}">
                <p14:modId xmlns:p14="http://schemas.microsoft.com/office/powerpoint/2010/main" val="338292591"/>
              </p:ext>
            </p:extLst>
          </p:nvPr>
        </p:nvGraphicFramePr>
        <p:xfrm>
          <a:off x="1643380" y="812165"/>
          <a:ext cx="9144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D94DFA0F-009B-CB57-7D4A-7FDD0EF4BCC9}"/>
              </a:ext>
            </a:extLst>
          </p:cNvPr>
          <p:cNvSpPr txBox="1"/>
          <p:nvPr/>
        </p:nvSpPr>
        <p:spPr>
          <a:xfrm>
            <a:off x="1643380" y="3985591"/>
            <a:ext cx="9144000" cy="193899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performance improved from 2013 to 2014</a:t>
            </a:r>
          </a:p>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Germany was the best-performing country in 2013, with a value of 5109516</a:t>
            </a:r>
          </a:p>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United States of America was the best-performing country in 2014 with a value of </a:t>
            </a:r>
            <a:r>
              <a:rPr lang="en-KE" sz="2400" dirty="0">
                <a:latin typeface="Cambria" panose="02040503050406030204" pitchFamily="18" charset="0"/>
                <a:ea typeface="Cambria" panose="02040503050406030204" pitchFamily="18" charset="0"/>
              </a:rPr>
              <a:t>17,529,325.5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524000" y="4446864"/>
            <a:ext cx="9144000" cy="1655762"/>
          </a:xfrm>
        </p:spPr>
        <p:txBody>
          <a:bodyPr/>
          <a:lstStyle/>
          <a:p>
            <a:pPr marL="342900" indent="-342900" algn="l">
              <a:buFont typeface="Wingdings" panose="05000000000000000000" pitchFamily="2" charset="2"/>
              <a:buChar char="Ø"/>
            </a:pPr>
            <a:r>
              <a:rPr lang="en-US" altLang="en-US" dirty="0">
                <a:latin typeface="Cambria" panose="02040503050406030204" pitchFamily="18" charset="0"/>
                <a:ea typeface="Cambria" panose="02040503050406030204" pitchFamily="18" charset="0"/>
              </a:rPr>
              <a:t>The relationship between discount level and sales is not strictly linear. Medium discounts produced the highest sales, while high discounts produced lower profit than medium and low discounts</a:t>
            </a:r>
            <a:endParaRPr lang="en-GB" altLang="en-US" dirty="0">
              <a:latin typeface="Cambria" panose="02040503050406030204" pitchFamily="18" charset="0"/>
              <a:ea typeface="Cambria" panose="02040503050406030204" pitchFamily="18" charset="0"/>
            </a:endParaRPr>
          </a:p>
        </p:txBody>
      </p:sp>
      <p:graphicFrame>
        <p:nvGraphicFramePr>
          <p:cNvPr id="3" name="Chart 2"/>
          <p:cNvGraphicFramePr/>
          <p:nvPr>
            <p:extLst>
              <p:ext uri="{D42A27DB-BD31-4B8C-83A1-F6EECF244321}">
                <p14:modId xmlns:p14="http://schemas.microsoft.com/office/powerpoint/2010/main" val="3019500034"/>
              </p:ext>
            </p:extLst>
          </p:nvPr>
        </p:nvGraphicFramePr>
        <p:xfrm>
          <a:off x="1683026" y="1195318"/>
          <a:ext cx="9144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D444A011-1F2F-13F2-9FAB-5F88414B79A4}"/>
              </a:ext>
            </a:extLst>
          </p:cNvPr>
          <p:cNvSpPr txBox="1"/>
          <p:nvPr/>
        </p:nvSpPr>
        <p:spPr>
          <a:xfrm>
            <a:off x="1838739" y="248478"/>
            <a:ext cx="7881731" cy="707886"/>
          </a:xfrm>
          <a:prstGeom prst="rect">
            <a:avLst/>
          </a:prstGeom>
          <a:noFill/>
        </p:spPr>
        <p:txBody>
          <a:bodyPr wrap="square" rtlCol="0">
            <a:spAutoFit/>
          </a:bodyPr>
          <a:lstStyle/>
          <a:p>
            <a:pPr algn="ctr"/>
            <a:r>
              <a:rPr lang="en-US" sz="4000" dirty="0"/>
              <a:t>DISCOUNT PERFORMANCE</a:t>
            </a:r>
            <a:endParaRPr lang="en-KE"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pPr marL="342900" indent="-342900" algn="l">
              <a:buFont typeface="Wingdings" panose="05000000000000000000" pitchFamily="2" charset="2"/>
              <a:buChar char="Ø"/>
            </a:pPr>
            <a:r>
              <a:rPr lang="en-US" altLang="en-US" dirty="0">
                <a:latin typeface="Cambria" panose="02040503050406030204" pitchFamily="18" charset="0"/>
                <a:ea typeface="Cambria" panose="02040503050406030204" pitchFamily="18" charset="0"/>
              </a:rPr>
              <a:t>Enterprise is the only segment with a negative total profit and is therefore the least profitable segment</a:t>
            </a:r>
          </a:p>
          <a:p>
            <a:pPr marL="342900" indent="-342900" algn="l">
              <a:buFont typeface="Wingdings" panose="05000000000000000000" pitchFamily="2" charset="2"/>
              <a:buChar char="Ø"/>
            </a:pPr>
            <a:r>
              <a:rPr lang="en-GB" altLang="en-US" dirty="0">
                <a:latin typeface="Cambria" panose="02040503050406030204" pitchFamily="18" charset="0"/>
                <a:ea typeface="Cambria" panose="02040503050406030204" pitchFamily="18" charset="0"/>
              </a:rPr>
              <a:t>Government is the most profitable with the most number of sales</a:t>
            </a:r>
          </a:p>
        </p:txBody>
      </p:sp>
      <p:graphicFrame>
        <p:nvGraphicFramePr>
          <p:cNvPr id="9" name="Chart 8"/>
          <p:cNvGraphicFramePr/>
          <p:nvPr>
            <p:extLst>
              <p:ext uri="{D42A27DB-BD31-4B8C-83A1-F6EECF244321}">
                <p14:modId xmlns:p14="http://schemas.microsoft.com/office/powerpoint/2010/main" val="2505135867"/>
              </p:ext>
            </p:extLst>
          </p:nvPr>
        </p:nvGraphicFramePr>
        <p:xfrm>
          <a:off x="2189479" y="696595"/>
          <a:ext cx="7650259" cy="2641600"/>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51BCAF8C-42F0-8E23-BFF2-C47ABE0BBE91}"/>
              </a:ext>
            </a:extLst>
          </p:cNvPr>
          <p:cNvSpPr txBox="1"/>
          <p:nvPr/>
        </p:nvSpPr>
        <p:spPr>
          <a:xfrm>
            <a:off x="2325757" y="139148"/>
            <a:ext cx="7650259" cy="707886"/>
          </a:xfrm>
          <a:prstGeom prst="rect">
            <a:avLst/>
          </a:prstGeom>
          <a:noFill/>
        </p:spPr>
        <p:txBody>
          <a:bodyPr wrap="square" rtlCol="0">
            <a:spAutoFit/>
          </a:bodyPr>
          <a:lstStyle/>
          <a:p>
            <a:pPr algn="ctr"/>
            <a:r>
              <a:rPr lang="en-US" sz="4000" dirty="0"/>
              <a:t>SEGMENT PERFORMANCE</a:t>
            </a:r>
            <a:endParaRPr lang="en-KE"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331843" y="154574"/>
            <a:ext cx="9144000" cy="522701"/>
          </a:xfrm>
        </p:spPr>
        <p:txBody>
          <a:bodyPr>
            <a:noAutofit/>
          </a:bodyPr>
          <a:lstStyle/>
          <a:p>
            <a:r>
              <a:rPr lang="en-GB" altLang="en-US" sz="4000" dirty="0"/>
              <a:t>MONTHLY PERFORMANCE</a:t>
            </a:r>
          </a:p>
        </p:txBody>
      </p:sp>
      <p:graphicFrame>
        <p:nvGraphicFramePr>
          <p:cNvPr id="22" name="Chart 21"/>
          <p:cNvGraphicFramePr/>
          <p:nvPr>
            <p:extLst>
              <p:ext uri="{D42A27DB-BD31-4B8C-83A1-F6EECF244321}">
                <p14:modId xmlns:p14="http://schemas.microsoft.com/office/powerpoint/2010/main" val="320198859"/>
              </p:ext>
            </p:extLst>
          </p:nvPr>
        </p:nvGraphicFramePr>
        <p:xfrm>
          <a:off x="1523999" y="932760"/>
          <a:ext cx="8951844"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C4818E1D-FFEA-5400-5F66-89474E05F330}"/>
              </a:ext>
            </a:extLst>
          </p:cNvPr>
          <p:cNvSpPr txBox="1"/>
          <p:nvPr/>
        </p:nvSpPr>
        <p:spPr>
          <a:xfrm>
            <a:off x="1523999" y="3985591"/>
            <a:ext cx="8951844" cy="1569660"/>
          </a:xfrm>
          <a:prstGeom prst="rect">
            <a:avLst/>
          </a:prstGeom>
          <a:noFill/>
        </p:spPr>
        <p:txBody>
          <a:bodyPr wrap="square" rtlCol="0">
            <a:spAutoFit/>
          </a:bodyPr>
          <a:lstStyle/>
          <a:p>
            <a:pPr marL="342900" indent="-342900">
              <a:buFont typeface="Wingdings" panose="05000000000000000000" pitchFamily="2" charset="2"/>
              <a:buChar char="Ø"/>
            </a:pPr>
            <a:r>
              <a:rPr lang="en-KE" sz="2400" dirty="0">
                <a:latin typeface="Cambria" panose="02040503050406030204" pitchFamily="18" charset="0"/>
                <a:ea typeface="Cambria" panose="02040503050406030204" pitchFamily="18" charset="0"/>
              </a:rPr>
              <a:t>In 2014, December was the most profitable month and November the least profitable </a:t>
            </a:r>
            <a:endParaRPr lang="en-US" sz="2400" dirty="0">
              <a:latin typeface="Cambria" panose="02040503050406030204" pitchFamily="18" charset="0"/>
              <a:ea typeface="Cambria" panose="02040503050406030204" pitchFamily="18" charset="0"/>
            </a:endParaRPr>
          </a:p>
          <a:p>
            <a:pPr marL="342900" indent="-342900">
              <a:buFont typeface="Wingdings" panose="05000000000000000000" pitchFamily="2" charset="2"/>
              <a:buChar char="Ø"/>
            </a:pPr>
            <a:r>
              <a:rPr lang="en-KE" sz="2400" dirty="0">
                <a:latin typeface="Cambria" panose="02040503050406030204" pitchFamily="18" charset="0"/>
                <a:ea typeface="Cambria" panose="02040503050406030204" pitchFamily="18" charset="0"/>
              </a:rPr>
              <a:t> In 2013 October was the most profitable and December the least profitable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pPr marL="342900" indent="-342900" algn="l">
              <a:buFont typeface="Wingdings" panose="05000000000000000000" pitchFamily="2" charset="2"/>
              <a:buChar char="Ø"/>
            </a:pPr>
            <a:r>
              <a:rPr lang="en-GB" altLang="en-US" dirty="0">
                <a:latin typeface="Cambria" panose="02040503050406030204" pitchFamily="18" charset="0"/>
                <a:ea typeface="Cambria" panose="02040503050406030204" pitchFamily="18" charset="0"/>
              </a:rPr>
              <a:t>United States of America has the highest COGS and sales but among the least profit wise</a:t>
            </a:r>
          </a:p>
          <a:p>
            <a:pPr marL="342900" indent="-342900" algn="l">
              <a:buFont typeface="Wingdings" panose="05000000000000000000" pitchFamily="2" charset="2"/>
              <a:buChar char="Ø"/>
            </a:pPr>
            <a:r>
              <a:rPr lang="en-GB" altLang="en-US" dirty="0">
                <a:latin typeface="Cambria" panose="02040503050406030204" pitchFamily="18" charset="0"/>
                <a:ea typeface="Cambria" panose="02040503050406030204" pitchFamily="18" charset="0"/>
              </a:rPr>
              <a:t>The most profitable country is France with a value 3,770,130</a:t>
            </a:r>
          </a:p>
        </p:txBody>
      </p:sp>
      <p:graphicFrame>
        <p:nvGraphicFramePr>
          <p:cNvPr id="16" name="Chart 15"/>
          <p:cNvGraphicFramePr/>
          <p:nvPr/>
        </p:nvGraphicFramePr>
        <p:xfrm>
          <a:off x="1160780" y="704850"/>
          <a:ext cx="9201150" cy="2724150"/>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770CA24C-DF6E-3B40-FFDD-3571AA6D2148}"/>
              </a:ext>
            </a:extLst>
          </p:cNvPr>
          <p:cNvSpPr txBox="1"/>
          <p:nvPr/>
        </p:nvSpPr>
        <p:spPr>
          <a:xfrm>
            <a:off x="1938130" y="218661"/>
            <a:ext cx="7653131" cy="584775"/>
          </a:xfrm>
          <a:prstGeom prst="rect">
            <a:avLst/>
          </a:prstGeom>
          <a:noFill/>
        </p:spPr>
        <p:txBody>
          <a:bodyPr wrap="square" rtlCol="0">
            <a:spAutoFit/>
          </a:bodyPr>
          <a:lstStyle/>
          <a:p>
            <a:pPr algn="ctr"/>
            <a:r>
              <a:rPr lang="en-US" sz="3200" dirty="0">
                <a:latin typeface="Cambria" panose="02040503050406030204" pitchFamily="18" charset="0"/>
                <a:ea typeface="Cambria" panose="02040503050406030204" pitchFamily="18" charset="0"/>
              </a:rPr>
              <a:t>COUNTRY PERFOMANCE</a:t>
            </a:r>
            <a:endParaRPr lang="en-KE" sz="32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695" y="18255"/>
            <a:ext cx="10515600" cy="1325563"/>
          </a:xfrm>
        </p:spPr>
        <p:txBody>
          <a:bodyPr/>
          <a:lstStyle/>
          <a:p>
            <a:r>
              <a:rPr lang="en-US" altLang="en-GB" dirty="0"/>
              <a:t>CONCLUSION</a:t>
            </a:r>
          </a:p>
        </p:txBody>
      </p:sp>
      <p:sp>
        <p:nvSpPr>
          <p:cNvPr id="3" name="Content Placeholder 2"/>
          <p:cNvSpPr>
            <a:spLocks noGrp="1"/>
          </p:cNvSpPr>
          <p:nvPr>
            <p:ph idx="1"/>
          </p:nvPr>
        </p:nvSpPr>
        <p:spPr>
          <a:xfrm>
            <a:off x="526773" y="1182757"/>
            <a:ext cx="10797209" cy="4874937"/>
          </a:xfrm>
        </p:spPr>
        <p:txBody>
          <a:bodyPr>
            <a:normAutofit/>
          </a:bodyPr>
          <a:lstStyle/>
          <a:p>
            <a:pPr>
              <a:buFont typeface="Wingdings" panose="05000000000000000000" pitchFamily="2" charset="2"/>
              <a:buChar char="ü"/>
            </a:pPr>
            <a:r>
              <a:rPr lang="en-KE" dirty="0" err="1"/>
              <a:t>Paseo</a:t>
            </a:r>
            <a:r>
              <a:rPr lang="en-KE" dirty="0"/>
              <a:t> leads on sales 33.1M</a:t>
            </a:r>
            <a:r>
              <a:rPr lang="en-US" dirty="0"/>
              <a:t> </a:t>
            </a:r>
            <a:r>
              <a:rPr lang="en-KE" dirty="0"/>
              <a:t>and profit </a:t>
            </a:r>
            <a:r>
              <a:rPr lang="en-US" dirty="0"/>
              <a:t> </a:t>
            </a:r>
            <a:r>
              <a:rPr lang="en-KE"/>
              <a:t>4.8M.</a:t>
            </a:r>
            <a:endParaRPr lang="en-US" dirty="0"/>
          </a:p>
          <a:p>
            <a:pPr>
              <a:buFont typeface="Wingdings" panose="05000000000000000000" pitchFamily="2" charset="2"/>
              <a:buChar char="ü"/>
            </a:pPr>
            <a:r>
              <a:rPr lang="en-KE" dirty="0"/>
              <a:t>Government is the strongest segment </a:t>
            </a:r>
            <a:r>
              <a:rPr lang="en-US" dirty="0"/>
              <a:t>.</a:t>
            </a:r>
            <a:r>
              <a:rPr lang="en-KE" dirty="0"/>
              <a:t>Enterprise is the only loss-making segment </a:t>
            </a:r>
            <a:endParaRPr lang="en-US" dirty="0"/>
          </a:p>
          <a:p>
            <a:pPr>
              <a:buFont typeface="Wingdings" panose="05000000000000000000" pitchFamily="2" charset="2"/>
              <a:buChar char="ü"/>
            </a:pPr>
            <a:r>
              <a:rPr lang="en-KE" dirty="0"/>
              <a:t>High discounts cut margin  without out-selling Medium discounts.</a:t>
            </a:r>
            <a:endParaRPr lang="en-US" dirty="0"/>
          </a:p>
          <a:p>
            <a:pPr>
              <a:buFont typeface="Wingdings" panose="05000000000000000000" pitchFamily="2" charset="2"/>
              <a:buChar char="ü"/>
            </a:pPr>
            <a:r>
              <a:rPr lang="en-KE" dirty="0"/>
              <a:t>France is the most profitable country (3.77M). The United States has the highest sales and COGS but the lowest margin among the large markets.</a:t>
            </a:r>
            <a:endParaRPr lang="en-US" dirty="0"/>
          </a:p>
          <a:p>
            <a:pPr>
              <a:buFont typeface="Wingdings" panose="05000000000000000000" pitchFamily="2" charset="2"/>
              <a:buChar char="ü"/>
            </a:pPr>
            <a:r>
              <a:rPr lang="en-KE" dirty="0"/>
              <a:t>December is the peak profit month</a:t>
            </a:r>
            <a:endParaRPr lang="en-GB" altLang="en-US"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A8705-F721-4FA4-85F0-5BE0893CC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98A77-DD82-8256-C96E-93184B82E6BF}"/>
              </a:ext>
            </a:extLst>
          </p:cNvPr>
          <p:cNvSpPr>
            <a:spLocks noGrp="1"/>
          </p:cNvSpPr>
          <p:nvPr>
            <p:ph type="title"/>
          </p:nvPr>
        </p:nvSpPr>
        <p:spPr>
          <a:xfrm>
            <a:off x="430695" y="18255"/>
            <a:ext cx="10515600" cy="1325563"/>
          </a:xfrm>
        </p:spPr>
        <p:txBody>
          <a:bodyPr/>
          <a:lstStyle/>
          <a:p>
            <a:r>
              <a:rPr lang="en-US" altLang="en-GB" dirty="0"/>
              <a:t>RECOMMENDATIONS</a:t>
            </a:r>
          </a:p>
        </p:txBody>
      </p:sp>
      <p:sp>
        <p:nvSpPr>
          <p:cNvPr id="3" name="Content Placeholder 2">
            <a:extLst>
              <a:ext uri="{FF2B5EF4-FFF2-40B4-BE49-F238E27FC236}">
                <a16:creationId xmlns:a16="http://schemas.microsoft.com/office/drawing/2014/main" id="{C43FB8A8-7D14-09F6-4A36-3501B3DA4BFE}"/>
              </a:ext>
            </a:extLst>
          </p:cNvPr>
          <p:cNvSpPr>
            <a:spLocks noGrp="1"/>
          </p:cNvSpPr>
          <p:nvPr>
            <p:ph idx="1"/>
          </p:nvPr>
        </p:nvSpPr>
        <p:spPr>
          <a:xfrm>
            <a:off x="526773" y="1182757"/>
            <a:ext cx="10797209" cy="4874937"/>
          </a:xfrm>
        </p:spPr>
        <p:txBody>
          <a:bodyPr>
            <a:normAutofit lnSpcReduction="10000"/>
          </a:bodyPr>
          <a:lstStyle/>
          <a:p>
            <a:pPr>
              <a:buFont typeface="Wingdings" panose="05000000000000000000" pitchFamily="2" charset="2"/>
              <a:buChar char="ü"/>
            </a:pPr>
            <a:r>
              <a:rPr lang="en-US" altLang="en-US" b="1" i="1" dirty="0"/>
              <a:t>Prioritize Paseo as the flagship product</a:t>
            </a:r>
          </a:p>
          <a:p>
            <a:r>
              <a:rPr lang="en-US" altLang="en-US" dirty="0">
                <a:latin typeface="Cambria" panose="02040503050406030204" pitchFamily="18" charset="0"/>
                <a:ea typeface="Cambria" panose="02040503050406030204" pitchFamily="18" charset="0"/>
              </a:rPr>
              <a:t>Since Paseo generates the highest sales and profit, ensure it has strong inventory availability, marketing support, and distribution coverage.</a:t>
            </a:r>
          </a:p>
          <a:p>
            <a:r>
              <a:rPr lang="en-US" altLang="en-US" dirty="0">
                <a:latin typeface="Cambria" panose="02040503050406030204" pitchFamily="18" charset="0"/>
                <a:ea typeface="Cambria" panose="02040503050406030204" pitchFamily="18" charset="0"/>
              </a:rPr>
              <a:t>Analyze the factors behind its success such as pricing, customer segment, or country demand and apply those lessons to weaker products.</a:t>
            </a:r>
          </a:p>
          <a:p>
            <a:pPr>
              <a:buFont typeface="Wingdings" panose="05000000000000000000" pitchFamily="2" charset="2"/>
              <a:buChar char="ü"/>
            </a:pPr>
            <a:r>
              <a:rPr lang="en-US" altLang="en-US" b="1" i="1" dirty="0"/>
              <a:t>Reduce dependence on high discounts</a:t>
            </a:r>
          </a:p>
          <a:p>
            <a:r>
              <a:rPr lang="en-US" altLang="en-US" b="1" i="1" dirty="0"/>
              <a:t> </a:t>
            </a:r>
            <a:r>
              <a:rPr lang="en-US" altLang="en-US" dirty="0">
                <a:latin typeface="Cambria" panose="02040503050406030204" pitchFamily="18" charset="0"/>
                <a:ea typeface="Cambria" panose="02040503050406030204" pitchFamily="18" charset="0"/>
              </a:rPr>
              <a:t>Higher discounts are associated with lower sales hence reducing profit, while lower discounts produce higher sales.</a:t>
            </a:r>
          </a:p>
          <a:p>
            <a:r>
              <a:rPr lang="en-US" altLang="en-US" dirty="0">
                <a:latin typeface="Cambria" panose="02040503050406030204" pitchFamily="18" charset="0"/>
                <a:ea typeface="Cambria" panose="02040503050406030204" pitchFamily="18" charset="0"/>
              </a:rPr>
              <a:t>Test smaller, targeted discounts to identify the level that improves demand without reducing revenue or profit.</a:t>
            </a:r>
          </a:p>
          <a:p>
            <a:endParaRPr lang="en-GB" alt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74818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D41CC-C370-4E59-1D38-7F0F8DD35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2A538-7E40-64D5-B4F9-B46D7A2E9715}"/>
              </a:ext>
            </a:extLst>
          </p:cNvPr>
          <p:cNvSpPr>
            <a:spLocks noGrp="1"/>
          </p:cNvSpPr>
          <p:nvPr>
            <p:ph type="title"/>
          </p:nvPr>
        </p:nvSpPr>
        <p:spPr>
          <a:xfrm>
            <a:off x="430695" y="18255"/>
            <a:ext cx="10515600" cy="1325563"/>
          </a:xfrm>
        </p:spPr>
        <p:txBody>
          <a:bodyPr/>
          <a:lstStyle/>
          <a:p>
            <a:r>
              <a:rPr lang="en-US" altLang="en-GB" dirty="0"/>
              <a:t>RECOMMENDATIONS</a:t>
            </a:r>
          </a:p>
        </p:txBody>
      </p:sp>
      <p:sp>
        <p:nvSpPr>
          <p:cNvPr id="3" name="Content Placeholder 2">
            <a:extLst>
              <a:ext uri="{FF2B5EF4-FFF2-40B4-BE49-F238E27FC236}">
                <a16:creationId xmlns:a16="http://schemas.microsoft.com/office/drawing/2014/main" id="{55A3DF3C-D6FE-8C57-1D4A-DA828214F0CC}"/>
              </a:ext>
            </a:extLst>
          </p:cNvPr>
          <p:cNvSpPr>
            <a:spLocks noGrp="1"/>
          </p:cNvSpPr>
          <p:nvPr>
            <p:ph idx="1"/>
          </p:nvPr>
        </p:nvSpPr>
        <p:spPr>
          <a:xfrm>
            <a:off x="526773" y="1182757"/>
            <a:ext cx="10797209" cy="4874937"/>
          </a:xfrm>
        </p:spPr>
        <p:txBody>
          <a:bodyPr>
            <a:normAutofit fontScale="92500" lnSpcReduction="10000"/>
          </a:bodyPr>
          <a:lstStyle/>
          <a:p>
            <a:pPr>
              <a:buFont typeface="Wingdings" panose="05000000000000000000" pitchFamily="2" charset="2"/>
              <a:buChar char="ü"/>
            </a:pPr>
            <a:r>
              <a:rPr lang="en-US" altLang="en-US" b="1" i="1" dirty="0"/>
              <a:t>Focus growth efforts on the Government segment</a:t>
            </a:r>
          </a:p>
          <a:p>
            <a:r>
              <a:rPr lang="en-US" altLang="en-US" dirty="0">
                <a:latin typeface="Cambria" panose="02040503050406030204" pitchFamily="18" charset="0"/>
                <a:ea typeface="Cambria" panose="02040503050406030204" pitchFamily="18" charset="0"/>
              </a:rPr>
              <a:t>Government is the most profitable segment and generates the largest volume of sales.</a:t>
            </a:r>
          </a:p>
          <a:p>
            <a:pPr>
              <a:buFont typeface="Wingdings" panose="05000000000000000000" pitchFamily="2" charset="2"/>
              <a:buChar char="ü"/>
            </a:pPr>
            <a:r>
              <a:rPr lang="en-US" altLang="en-US" b="1" i="1" dirty="0"/>
              <a:t>Develop an improvement plan for Carretera</a:t>
            </a:r>
          </a:p>
          <a:p>
            <a:r>
              <a:rPr lang="en-US" altLang="en-US" dirty="0">
                <a:latin typeface="Cambria" panose="02040503050406030204" pitchFamily="18" charset="0"/>
                <a:ea typeface="Cambria" panose="02040503050406030204" pitchFamily="18" charset="0"/>
              </a:rPr>
              <a:t>Review its pricing, marketing, product positioning, and target </a:t>
            </a:r>
            <a:r>
              <a:rPr lang="en-US" altLang="en-US" dirty="0" err="1">
                <a:latin typeface="Cambria" panose="02040503050406030204" pitchFamily="18" charset="0"/>
                <a:ea typeface="Cambria" panose="02040503050406030204" pitchFamily="18" charset="0"/>
              </a:rPr>
              <a:t>customers.Consider</a:t>
            </a:r>
            <a:r>
              <a:rPr lang="en-US" altLang="en-US" dirty="0">
                <a:latin typeface="Cambria" panose="02040503050406030204" pitchFamily="18" charset="0"/>
                <a:ea typeface="Cambria" panose="02040503050406030204" pitchFamily="18" charset="0"/>
              </a:rPr>
              <a:t> promotional campaigns, bundling, or repositioning it toward higher-potential customer segments.</a:t>
            </a:r>
          </a:p>
          <a:p>
            <a:pPr>
              <a:buFont typeface="Wingdings" panose="05000000000000000000" pitchFamily="2" charset="2"/>
              <a:buChar char="ü"/>
            </a:pPr>
            <a:r>
              <a:rPr lang="en-GB" altLang="en-US" b="1" i="1" dirty="0">
                <a:latin typeface="Cambria" panose="02040503050406030204" pitchFamily="18" charset="0"/>
                <a:ea typeface="Cambria" panose="02040503050406030204" pitchFamily="18" charset="0"/>
              </a:rPr>
              <a:t>Expand investment in France </a:t>
            </a:r>
          </a:p>
          <a:p>
            <a:r>
              <a:rPr lang="en-US" altLang="en-US" dirty="0">
                <a:latin typeface="Cambria" panose="02040503050406030204" pitchFamily="18" charset="0"/>
                <a:ea typeface="Cambria" panose="02040503050406030204" pitchFamily="18" charset="0"/>
              </a:rPr>
              <a:t>France is the most profitable country, so it should be prioritized for market expansion. The United States has the highest expenses, so it should review operating, marketing, logistics, and sales costs .</a:t>
            </a:r>
          </a:p>
          <a:p>
            <a:r>
              <a:rPr lang="en-US" altLang="en-US" dirty="0">
                <a:latin typeface="Cambria" panose="02040503050406030204" pitchFamily="18" charset="0"/>
                <a:ea typeface="Cambria" panose="02040503050406030204" pitchFamily="18" charset="0"/>
              </a:rPr>
              <a:t>Use France as a benchmark for evaluating other markets</a:t>
            </a:r>
            <a:endParaRPr lang="en-GB" alt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30788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C70DB-DF2B-D9E3-C7BB-BD929CC3F9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06AF5-BE8E-99FB-0594-ED602CEBC3B4}"/>
              </a:ext>
            </a:extLst>
          </p:cNvPr>
          <p:cNvSpPr>
            <a:spLocks noGrp="1"/>
          </p:cNvSpPr>
          <p:nvPr>
            <p:ph type="title"/>
          </p:nvPr>
        </p:nvSpPr>
        <p:spPr>
          <a:xfrm>
            <a:off x="430695" y="18255"/>
            <a:ext cx="10515600" cy="1325563"/>
          </a:xfrm>
        </p:spPr>
        <p:txBody>
          <a:bodyPr/>
          <a:lstStyle/>
          <a:p>
            <a:r>
              <a:rPr lang="en-US" altLang="en-GB" dirty="0"/>
              <a:t>RECOMMENDATIONS</a:t>
            </a:r>
          </a:p>
        </p:txBody>
      </p:sp>
      <p:sp>
        <p:nvSpPr>
          <p:cNvPr id="3" name="Content Placeholder 2">
            <a:extLst>
              <a:ext uri="{FF2B5EF4-FFF2-40B4-BE49-F238E27FC236}">
                <a16:creationId xmlns:a16="http://schemas.microsoft.com/office/drawing/2014/main" id="{F1F37FDD-4889-B632-414A-64E6C8033509}"/>
              </a:ext>
            </a:extLst>
          </p:cNvPr>
          <p:cNvSpPr>
            <a:spLocks noGrp="1"/>
          </p:cNvSpPr>
          <p:nvPr>
            <p:ph idx="1"/>
          </p:nvPr>
        </p:nvSpPr>
        <p:spPr>
          <a:xfrm>
            <a:off x="526773" y="1182757"/>
            <a:ext cx="10797209" cy="4874937"/>
          </a:xfrm>
        </p:spPr>
        <p:txBody>
          <a:bodyPr>
            <a:normAutofit/>
          </a:bodyPr>
          <a:lstStyle/>
          <a:p>
            <a:pPr>
              <a:buFont typeface="Wingdings" panose="05000000000000000000" pitchFamily="2" charset="2"/>
              <a:buChar char="ü"/>
            </a:pPr>
            <a:r>
              <a:rPr lang="en-US" altLang="en-US" b="1" i="1" dirty="0"/>
              <a:t>Prepare early for December demand</a:t>
            </a:r>
          </a:p>
          <a:p>
            <a:r>
              <a:rPr lang="en-US" altLang="en-US" dirty="0"/>
              <a:t>Increase inventory planning, staffing, marketing activity, and sales outreach ahead.</a:t>
            </a:r>
          </a:p>
        </p:txBody>
      </p:sp>
    </p:spTree>
    <p:extLst>
      <p:ext uri="{BB962C8B-B14F-4D97-AF65-F5344CB8AC3E}">
        <p14:creationId xmlns:p14="http://schemas.microsoft.com/office/powerpoint/2010/main" val="1218461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263</TotalTime>
  <Words>687</Words>
  <Application>Microsoft Office PowerPoint</Application>
  <PresentationFormat>Widescreen</PresentationFormat>
  <Paragraphs>58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Cambria</vt:lpstr>
      <vt:lpstr>Wingdings</vt:lpstr>
      <vt:lpstr>Office Theme</vt:lpstr>
      <vt:lpstr>FINANCIAL DATA  ANALYSIS  REPORT</vt:lpstr>
      <vt:lpstr>Problem statement</vt:lpstr>
      <vt:lpstr>Goals</vt:lpstr>
      <vt:lpstr>Data Understanding</vt:lpstr>
      <vt:lpstr>PRODUCT PERFORMANCE</vt:lpstr>
      <vt:lpstr>PowerPoint Presentation</vt:lpstr>
      <vt:lpstr>PowerPoint Presentation</vt:lpstr>
      <vt:lpstr>PowerPoint Presentation</vt:lpstr>
      <vt:lpstr>PowerPoint Presentation</vt:lpstr>
      <vt:lpstr>PowerPoint Presentation</vt:lpstr>
      <vt:lpstr>CONCLUSION</vt:lpstr>
      <vt:lpstr>RECOMMENDATIONS</vt:lpstr>
      <vt:lpstr>RECOMMENDATIONS</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NICOLE MUTHEE</cp:lastModifiedBy>
  <cp:revision>12</cp:revision>
  <dcterms:created xsi:type="dcterms:W3CDTF">2025-07-23T00:59:00Z</dcterms:created>
  <dcterms:modified xsi:type="dcterms:W3CDTF">2026-09-18T20:45:30Z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DBF2C6692DB64393B4C606D71B392A03_11</vt:lpwstr>
  </property>
  <property fmtid="{D5CDD505-2E9C-101B-9397-08002B2CF9AE}" pid="3" name="KSOProductBuildVer">
    <vt:lpwstr>2057-12.2.0.23206</vt:lpwstr>
  </property>
</Properties>
</file>